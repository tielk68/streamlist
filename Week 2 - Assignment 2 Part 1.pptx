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8288000" cy="10287000"/>
  <p:notesSz cx="6858000" cy="9144000"/>
  <p:embeddedFontLst>
    <p:embeddedFont>
      <p:font typeface="Garet"/>
      <p:regular r:id="rId7"/>
    </p:embeddedFont>
    <p:embeddedFont>
      <p:font typeface="Garet Bold" pitchFamily="2" charset="77"/>
      <p:regular r:id="rId8"/>
      <p:bold r:id="rId9"/>
    </p:embeddedFont>
    <p:embeddedFont>
      <p:font typeface="Garet Italics" pitchFamily="2" charset="77"/>
      <p:regular r:id="rId10"/>
      <p:italic r:id="rId11"/>
    </p:embeddedFont>
    <p:embeddedFont>
      <p:font typeface="Poppins Bold"/>
      <p:regular r:id="rId12"/>
      <p:bold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 autoAdjust="0"/>
    <p:restoredTop sz="94589" autoAdjust="0"/>
  </p:normalViewPr>
  <p:slideViewPr>
    <p:cSldViewPr>
      <p:cViewPr varScale="1">
        <p:scale>
          <a:sx n="80" d="100"/>
          <a:sy n="80" d="100"/>
        </p:scale>
        <p:origin x="824" y="20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2.fntdata"/><Relationship Id="rId13" Type="http://schemas.openxmlformats.org/officeDocument/2006/relationships/font" Target="fonts/font7.fntdata"/><Relationship Id="rId3" Type="http://schemas.openxmlformats.org/officeDocument/2006/relationships/slide" Target="slides/slide2.xml"/><Relationship Id="rId7" Type="http://schemas.openxmlformats.org/officeDocument/2006/relationships/font" Target="fonts/font1.fntdata"/><Relationship Id="rId12" Type="http://schemas.openxmlformats.org/officeDocument/2006/relationships/font" Target="fonts/font6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5.fntdata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font" Target="fonts/font3.fntdata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11485721" y="0"/>
            <a:ext cx="6802279" cy="10287000"/>
          </a:xfrm>
          <a:custGeom>
            <a:avLst/>
            <a:gdLst/>
            <a:ahLst/>
            <a:cxnLst/>
            <a:rect l="l" t="t" r="r" b="b"/>
            <a:pathLst>
              <a:path w="6802279" h="10287000">
                <a:moveTo>
                  <a:pt x="6802279" y="0"/>
                </a:moveTo>
                <a:lnTo>
                  <a:pt x="0" y="0"/>
                </a:lnTo>
                <a:lnTo>
                  <a:pt x="0" y="10287000"/>
                </a:lnTo>
                <a:lnTo>
                  <a:pt x="6802279" y="10287000"/>
                </a:lnTo>
                <a:lnTo>
                  <a:pt x="6802279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11099760" y="3219534"/>
            <a:ext cx="6660012" cy="6660012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D1949">
                    <a:alpha val="20000"/>
                  </a:srgbClr>
                </a:gs>
                <a:gs pos="100000">
                  <a:srgbClr val="60C2CE">
                    <a:alpha val="2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322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1480154" y="3599927"/>
            <a:ext cx="5899224" cy="5899224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D1949">
                    <a:alpha val="100000"/>
                  </a:srgbClr>
                </a:gs>
                <a:gs pos="100000">
                  <a:srgbClr val="60C2CE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322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1889747" y="4009521"/>
            <a:ext cx="5080038" cy="5080038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  <a:ln w="142875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-847725" y="7048500"/>
            <a:ext cx="9263565" cy="647414"/>
            <a:chOff x="0" y="0"/>
            <a:chExt cx="5814998" cy="4064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5814998" cy="406400"/>
            </a:xfrm>
            <a:custGeom>
              <a:avLst/>
              <a:gdLst/>
              <a:ahLst/>
              <a:cxnLst/>
              <a:rect l="l" t="t" r="r" b="b"/>
              <a:pathLst>
                <a:path w="5814998" h="406400">
                  <a:moveTo>
                    <a:pt x="5611798" y="0"/>
                  </a:moveTo>
                  <a:cubicBezTo>
                    <a:pt x="5724022" y="0"/>
                    <a:pt x="5814998" y="90976"/>
                    <a:pt x="5814998" y="203200"/>
                  </a:cubicBezTo>
                  <a:cubicBezTo>
                    <a:pt x="5814998" y="315424"/>
                    <a:pt x="5724022" y="406400"/>
                    <a:pt x="5611798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D1949">
                    <a:alpha val="100000"/>
                  </a:srgbClr>
                </a:gs>
                <a:gs pos="100000">
                  <a:srgbClr val="60C2CE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47625"/>
              <a:ext cx="5814998" cy="454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537"/>
                </a:lnSpc>
              </a:pPr>
              <a:endParaRPr/>
            </a:p>
          </p:txBody>
        </p:sp>
      </p:grpSp>
      <p:sp>
        <p:nvSpPr>
          <p:cNvPr id="14" name="Freeform 14"/>
          <p:cNvSpPr/>
          <p:nvPr/>
        </p:nvSpPr>
        <p:spPr>
          <a:xfrm>
            <a:off x="9060148" y="-485357"/>
            <a:ext cx="2039611" cy="1269658"/>
          </a:xfrm>
          <a:custGeom>
            <a:avLst/>
            <a:gdLst/>
            <a:ahLst/>
            <a:cxnLst/>
            <a:rect l="l" t="t" r="r" b="b"/>
            <a:pathLst>
              <a:path w="2039611" h="1269658">
                <a:moveTo>
                  <a:pt x="0" y="0"/>
                </a:moveTo>
                <a:lnTo>
                  <a:pt x="2039612" y="0"/>
                </a:lnTo>
                <a:lnTo>
                  <a:pt x="2039612" y="1269658"/>
                </a:lnTo>
                <a:lnTo>
                  <a:pt x="0" y="126965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5" name="TextBox 15"/>
          <p:cNvSpPr txBox="1"/>
          <p:nvPr/>
        </p:nvSpPr>
        <p:spPr>
          <a:xfrm>
            <a:off x="1276350" y="1485900"/>
            <a:ext cx="10553700" cy="17792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3872"/>
              </a:lnSpc>
              <a:spcBef>
                <a:spcPct val="0"/>
              </a:spcBef>
            </a:pPr>
            <a:r>
              <a:rPr lang="en-US" sz="9908" b="1" u="none" strike="noStrik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STREAMLIST+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276350" y="2867025"/>
            <a:ext cx="10553700" cy="17792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3872"/>
              </a:lnSpc>
              <a:spcBef>
                <a:spcPct val="0"/>
              </a:spcBef>
            </a:pPr>
            <a:r>
              <a:rPr lang="en-US" sz="9908" b="1" u="none" strike="noStrike">
                <a:gradFill>
                  <a:gsLst>
                    <a:gs pos="0">
                      <a:srgbClr val="0D1949">
                        <a:alpha val="100000"/>
                      </a:srgbClr>
                    </a:gs>
                    <a:gs pos="100000">
                      <a:srgbClr val="60C2CE">
                        <a:alpha val="100000"/>
                      </a:srgbClr>
                    </a:gs>
                  </a:gsLst>
                  <a:lin ang="0"/>
                </a:gradFill>
                <a:latin typeface="Poppins Bold"/>
                <a:ea typeface="Poppins Bold"/>
                <a:cs typeface="Poppins Bold"/>
                <a:sym typeface="Poppins Bold"/>
              </a:rPr>
              <a:t>SUBSCRIPTION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276350" y="4276725"/>
            <a:ext cx="10553700" cy="13068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0196"/>
              </a:lnSpc>
              <a:spcBef>
                <a:spcPct val="0"/>
              </a:spcBef>
            </a:pPr>
            <a:r>
              <a:rPr lang="en-US" sz="7282" b="1" u="none" strike="noStrik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STREAMING PLATFORM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276350" y="7134225"/>
            <a:ext cx="6724650" cy="3737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009"/>
              </a:lnSpc>
              <a:spcBef>
                <a:spcPct val="0"/>
              </a:spcBef>
            </a:pPr>
            <a:r>
              <a:rPr lang="en-US" sz="2149" u="none" strike="noStrike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Gantt Chart and Wireframe Development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276350" y="8296275"/>
            <a:ext cx="5715000" cy="381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149"/>
              </a:lnSpc>
              <a:spcBef>
                <a:spcPct val="0"/>
              </a:spcBef>
            </a:pPr>
            <a:r>
              <a:rPr lang="en-US" sz="2250" u="none" strike="noStrike">
                <a:solidFill>
                  <a:srgbClr val="636363"/>
                </a:solidFill>
                <a:latin typeface="Garet"/>
                <a:ea typeface="Garet"/>
                <a:cs typeface="Garet"/>
                <a:sym typeface="Garet"/>
              </a:rPr>
              <a:t>Week 2: Assignment 2, Part 1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276350" y="6019800"/>
            <a:ext cx="6667500" cy="5581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399"/>
              </a:lnSpc>
              <a:spcBef>
                <a:spcPct val="0"/>
              </a:spcBef>
            </a:pPr>
            <a:r>
              <a:rPr lang="en-US" sz="1599" u="none" strike="noStrike">
                <a:solidFill>
                  <a:srgbClr val="3D3D3D"/>
                </a:solidFill>
                <a:latin typeface="Garet"/>
                <a:ea typeface="Garet"/>
                <a:cs typeface="Garet"/>
                <a:sym typeface="Garet"/>
              </a:rPr>
              <a:t>Prepared by Itiel I. King</a:t>
            </a:r>
          </a:p>
          <a:p>
            <a:pPr marL="0" lvl="0" indent="0" algn="l">
              <a:lnSpc>
                <a:spcPts val="2399"/>
              </a:lnSpc>
              <a:spcBef>
                <a:spcPct val="0"/>
              </a:spcBef>
            </a:pPr>
            <a:r>
              <a:rPr lang="en-US" sz="1599" u="none" strike="noStrike">
                <a:solidFill>
                  <a:srgbClr val="3D3D3D"/>
                </a:solidFill>
                <a:latin typeface="Garet"/>
                <a:ea typeface="Garet"/>
                <a:cs typeface="Garet"/>
                <a:sym typeface="Garet"/>
              </a:rPr>
              <a:t>INT499: Information Technology Capstone Project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276350" y="8896350"/>
            <a:ext cx="6667500" cy="7924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299"/>
              </a:lnSpc>
              <a:spcBef>
                <a:spcPct val="0"/>
              </a:spcBef>
            </a:pPr>
            <a:r>
              <a:rPr lang="en-US" sz="2199" b="1" u="none" strike="noStrike">
                <a:solidFill>
                  <a:srgbClr val="0D1949"/>
                </a:solidFill>
                <a:latin typeface="Garet Bold"/>
                <a:ea typeface="Garet Bold"/>
                <a:cs typeface="Garet Bold"/>
                <a:sym typeface="Garet Bold"/>
              </a:rPr>
              <a:t>Software Requirements Specification (SRS)</a:t>
            </a:r>
          </a:p>
          <a:p>
            <a:pPr marL="0" lvl="0" indent="0" algn="l">
              <a:lnSpc>
                <a:spcPts val="3299"/>
              </a:lnSpc>
              <a:spcBef>
                <a:spcPct val="0"/>
              </a:spcBef>
            </a:pPr>
            <a:r>
              <a:rPr lang="en-US" sz="2199" u="none" strike="noStrike">
                <a:solidFill>
                  <a:srgbClr val="0D1949"/>
                </a:solidFill>
                <a:latin typeface="Garet"/>
                <a:ea typeface="Garet"/>
                <a:cs typeface="Garet"/>
                <a:sym typeface="Garet"/>
              </a:rPr>
              <a:t>StreamList+ Subscription Streaming Platform</a:t>
            </a:r>
          </a:p>
        </p:txBody>
      </p:sp>
      <p:grpSp>
        <p:nvGrpSpPr>
          <p:cNvPr id="22" name="Group 22"/>
          <p:cNvGrpSpPr/>
          <p:nvPr/>
        </p:nvGrpSpPr>
        <p:grpSpPr>
          <a:xfrm>
            <a:off x="0" y="9906000"/>
            <a:ext cx="18288000" cy="57150"/>
            <a:chOff x="0" y="0"/>
            <a:chExt cx="24384000" cy="762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24384000" cy="76200"/>
            </a:xfrm>
            <a:custGeom>
              <a:avLst/>
              <a:gdLst/>
              <a:ahLst/>
              <a:cxnLst/>
              <a:rect l="l" t="t" r="r" b="b"/>
              <a:pathLst>
                <a:path w="24384000" h="76200">
                  <a:moveTo>
                    <a:pt x="0" y="0"/>
                  </a:moveTo>
                  <a:lnTo>
                    <a:pt x="24384000" y="0"/>
                  </a:lnTo>
                  <a:lnTo>
                    <a:pt x="243840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2456B8"/>
            </a:solidFill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4992350" y="8715375"/>
            <a:ext cx="1905000" cy="1422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100"/>
              </a:lnSpc>
              <a:spcBef>
                <a:spcPct val="0"/>
              </a:spcBef>
            </a:pPr>
            <a:r>
              <a:rPr lang="en-US" sz="1100" u="none" strike="noStrike">
                <a:solidFill>
                  <a:srgbClr val="1A1A2E"/>
                </a:solidFill>
                <a:latin typeface="Garet"/>
                <a:ea typeface="Garet"/>
                <a:cs typeface="Garet"/>
                <a:sym typeface="Garet"/>
              </a:rPr>
              <a:t>Deployment Phase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4992350" y="8524875"/>
            <a:ext cx="1905000" cy="1422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100"/>
              </a:lnSpc>
              <a:spcBef>
                <a:spcPct val="0"/>
              </a:spcBef>
            </a:pPr>
            <a:r>
              <a:rPr lang="en-US" sz="1100" u="none" strike="noStrike">
                <a:solidFill>
                  <a:srgbClr val="1A1A2E"/>
                </a:solidFill>
                <a:latin typeface="Garet"/>
                <a:ea typeface="Garet"/>
                <a:cs typeface="Garet"/>
                <a:sym typeface="Garet"/>
              </a:rPr>
              <a:t>Testing Phase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4992350" y="8334375"/>
            <a:ext cx="1905000" cy="1422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100"/>
              </a:lnSpc>
              <a:spcBef>
                <a:spcPct val="0"/>
              </a:spcBef>
            </a:pPr>
            <a:r>
              <a:rPr lang="en-US" sz="1100" u="none" strike="noStrike">
                <a:solidFill>
                  <a:srgbClr val="1A1A2E"/>
                </a:solidFill>
                <a:latin typeface="Garet"/>
                <a:ea typeface="Garet"/>
                <a:cs typeface="Garet"/>
                <a:sym typeface="Garet"/>
              </a:rPr>
              <a:t>Development Tasks</a:t>
            </a:r>
          </a:p>
        </p:txBody>
      </p:sp>
      <p:sp>
        <p:nvSpPr>
          <p:cNvPr id="5" name="AutoShape 5"/>
          <p:cNvSpPr/>
          <p:nvPr/>
        </p:nvSpPr>
        <p:spPr>
          <a:xfrm>
            <a:off x="13163550" y="1771650"/>
            <a:ext cx="0" cy="7086600"/>
          </a:xfrm>
          <a:prstGeom prst="line">
            <a:avLst/>
          </a:prstGeom>
          <a:ln w="9525" cap="rnd">
            <a:solidFill>
              <a:srgbClr val="D0D4DA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6" name="AutoShape 6"/>
          <p:cNvSpPr/>
          <p:nvPr/>
        </p:nvSpPr>
        <p:spPr>
          <a:xfrm>
            <a:off x="12325350" y="1771650"/>
            <a:ext cx="0" cy="7086600"/>
          </a:xfrm>
          <a:prstGeom prst="line">
            <a:avLst/>
          </a:prstGeom>
          <a:ln w="9525" cap="rnd">
            <a:solidFill>
              <a:srgbClr val="D0D4DA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7" name="AutoShape 7"/>
          <p:cNvSpPr/>
          <p:nvPr/>
        </p:nvSpPr>
        <p:spPr>
          <a:xfrm>
            <a:off x="11487150" y="1771650"/>
            <a:ext cx="0" cy="7086600"/>
          </a:xfrm>
          <a:prstGeom prst="line">
            <a:avLst/>
          </a:prstGeom>
          <a:ln w="9525" cap="rnd">
            <a:solidFill>
              <a:srgbClr val="D0D4DA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8" name="AutoShape 8"/>
          <p:cNvSpPr/>
          <p:nvPr/>
        </p:nvSpPr>
        <p:spPr>
          <a:xfrm>
            <a:off x="10648950" y="1771650"/>
            <a:ext cx="0" cy="7086600"/>
          </a:xfrm>
          <a:prstGeom prst="line">
            <a:avLst/>
          </a:prstGeom>
          <a:ln w="9525" cap="rnd">
            <a:solidFill>
              <a:srgbClr val="D0D4DA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9" name="AutoShape 9"/>
          <p:cNvSpPr/>
          <p:nvPr/>
        </p:nvSpPr>
        <p:spPr>
          <a:xfrm>
            <a:off x="9810750" y="1771650"/>
            <a:ext cx="0" cy="7086600"/>
          </a:xfrm>
          <a:prstGeom prst="line">
            <a:avLst/>
          </a:prstGeom>
          <a:ln w="9525" cap="rnd">
            <a:solidFill>
              <a:srgbClr val="D0D4DA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0" name="AutoShape 10"/>
          <p:cNvSpPr/>
          <p:nvPr/>
        </p:nvSpPr>
        <p:spPr>
          <a:xfrm>
            <a:off x="8972550" y="1771650"/>
            <a:ext cx="0" cy="7086600"/>
          </a:xfrm>
          <a:prstGeom prst="line">
            <a:avLst/>
          </a:prstGeom>
          <a:ln w="9525" cap="rnd">
            <a:solidFill>
              <a:srgbClr val="D0D4DA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1" name="AutoShape 11"/>
          <p:cNvSpPr/>
          <p:nvPr/>
        </p:nvSpPr>
        <p:spPr>
          <a:xfrm>
            <a:off x="8134350" y="1771650"/>
            <a:ext cx="0" cy="7086600"/>
          </a:xfrm>
          <a:prstGeom prst="line">
            <a:avLst/>
          </a:prstGeom>
          <a:ln w="9525" cap="rnd">
            <a:solidFill>
              <a:srgbClr val="D0D4DA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2" name="AutoShape 12"/>
          <p:cNvSpPr/>
          <p:nvPr/>
        </p:nvSpPr>
        <p:spPr>
          <a:xfrm>
            <a:off x="7296150" y="1771650"/>
            <a:ext cx="0" cy="7086600"/>
          </a:xfrm>
          <a:prstGeom prst="line">
            <a:avLst/>
          </a:prstGeom>
          <a:ln w="9525" cap="rnd">
            <a:solidFill>
              <a:srgbClr val="D0D4DA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3" name="AutoShape 13"/>
          <p:cNvSpPr/>
          <p:nvPr/>
        </p:nvSpPr>
        <p:spPr>
          <a:xfrm>
            <a:off x="6457950" y="1771650"/>
            <a:ext cx="0" cy="7086600"/>
          </a:xfrm>
          <a:prstGeom prst="line">
            <a:avLst/>
          </a:prstGeom>
          <a:ln w="9525" cap="rnd">
            <a:solidFill>
              <a:srgbClr val="D0D4DA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4" name="AutoShape 14"/>
          <p:cNvSpPr/>
          <p:nvPr/>
        </p:nvSpPr>
        <p:spPr>
          <a:xfrm>
            <a:off x="5619750" y="1771650"/>
            <a:ext cx="0" cy="7086600"/>
          </a:xfrm>
          <a:prstGeom prst="line">
            <a:avLst/>
          </a:prstGeom>
          <a:ln w="9525" cap="rnd">
            <a:solidFill>
              <a:srgbClr val="D0D4DA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5" name="AutoShape 15"/>
          <p:cNvSpPr/>
          <p:nvPr/>
        </p:nvSpPr>
        <p:spPr>
          <a:xfrm>
            <a:off x="4781550" y="1771650"/>
            <a:ext cx="0" cy="7086600"/>
          </a:xfrm>
          <a:prstGeom prst="line">
            <a:avLst/>
          </a:prstGeom>
          <a:ln w="9525" cap="rnd">
            <a:solidFill>
              <a:srgbClr val="D0D4DA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16" name="Group 16"/>
          <p:cNvGrpSpPr/>
          <p:nvPr/>
        </p:nvGrpSpPr>
        <p:grpSpPr>
          <a:xfrm>
            <a:off x="1276350" y="8267700"/>
            <a:ext cx="12801600" cy="590550"/>
            <a:chOff x="0" y="0"/>
            <a:chExt cx="17068800" cy="7874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7068800" cy="787400"/>
            </a:xfrm>
            <a:custGeom>
              <a:avLst/>
              <a:gdLst/>
              <a:ahLst/>
              <a:cxnLst/>
              <a:rect l="l" t="t" r="r" b="b"/>
              <a:pathLst>
                <a:path w="17068800" h="787400">
                  <a:moveTo>
                    <a:pt x="0" y="0"/>
                  </a:moveTo>
                  <a:lnTo>
                    <a:pt x="17068800" y="0"/>
                  </a:lnTo>
                  <a:lnTo>
                    <a:pt x="17068800" y="787400"/>
                  </a:lnTo>
                  <a:lnTo>
                    <a:pt x="0" y="7874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276350" y="7677150"/>
            <a:ext cx="12801600" cy="590550"/>
            <a:chOff x="0" y="0"/>
            <a:chExt cx="17068800" cy="7874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7068800" cy="787400"/>
            </a:xfrm>
            <a:custGeom>
              <a:avLst/>
              <a:gdLst/>
              <a:ahLst/>
              <a:cxnLst/>
              <a:rect l="l" t="t" r="r" b="b"/>
              <a:pathLst>
                <a:path w="17068800" h="787400">
                  <a:moveTo>
                    <a:pt x="0" y="0"/>
                  </a:moveTo>
                  <a:lnTo>
                    <a:pt x="17068800" y="0"/>
                  </a:lnTo>
                  <a:lnTo>
                    <a:pt x="17068800" y="787400"/>
                  </a:lnTo>
                  <a:lnTo>
                    <a:pt x="0" y="787400"/>
                  </a:lnTo>
                  <a:close/>
                </a:path>
              </a:pathLst>
            </a:custGeom>
            <a:solidFill>
              <a:srgbClr val="F0F2F5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276350" y="7086600"/>
            <a:ext cx="12801600" cy="590550"/>
            <a:chOff x="0" y="0"/>
            <a:chExt cx="17068800" cy="7874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7068800" cy="787400"/>
            </a:xfrm>
            <a:custGeom>
              <a:avLst/>
              <a:gdLst/>
              <a:ahLst/>
              <a:cxnLst/>
              <a:rect l="l" t="t" r="r" b="b"/>
              <a:pathLst>
                <a:path w="17068800" h="787400">
                  <a:moveTo>
                    <a:pt x="0" y="0"/>
                  </a:moveTo>
                  <a:lnTo>
                    <a:pt x="17068800" y="0"/>
                  </a:lnTo>
                  <a:lnTo>
                    <a:pt x="17068800" y="787400"/>
                  </a:lnTo>
                  <a:lnTo>
                    <a:pt x="0" y="7874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276350" y="6496050"/>
            <a:ext cx="12801600" cy="590550"/>
            <a:chOff x="0" y="0"/>
            <a:chExt cx="17068800" cy="7874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7068800" cy="787400"/>
            </a:xfrm>
            <a:custGeom>
              <a:avLst/>
              <a:gdLst/>
              <a:ahLst/>
              <a:cxnLst/>
              <a:rect l="l" t="t" r="r" b="b"/>
              <a:pathLst>
                <a:path w="17068800" h="787400">
                  <a:moveTo>
                    <a:pt x="0" y="0"/>
                  </a:moveTo>
                  <a:lnTo>
                    <a:pt x="17068800" y="0"/>
                  </a:lnTo>
                  <a:lnTo>
                    <a:pt x="17068800" y="787400"/>
                  </a:lnTo>
                  <a:lnTo>
                    <a:pt x="0" y="787400"/>
                  </a:lnTo>
                  <a:close/>
                </a:path>
              </a:pathLst>
            </a:custGeom>
            <a:solidFill>
              <a:srgbClr val="F0F2F5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276350" y="5905500"/>
            <a:ext cx="12801600" cy="590550"/>
            <a:chOff x="0" y="0"/>
            <a:chExt cx="17068800" cy="78740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7068800" cy="787400"/>
            </a:xfrm>
            <a:custGeom>
              <a:avLst/>
              <a:gdLst/>
              <a:ahLst/>
              <a:cxnLst/>
              <a:rect l="l" t="t" r="r" b="b"/>
              <a:pathLst>
                <a:path w="17068800" h="787400">
                  <a:moveTo>
                    <a:pt x="0" y="0"/>
                  </a:moveTo>
                  <a:lnTo>
                    <a:pt x="17068800" y="0"/>
                  </a:lnTo>
                  <a:lnTo>
                    <a:pt x="17068800" y="787400"/>
                  </a:lnTo>
                  <a:lnTo>
                    <a:pt x="0" y="7874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1276350" y="5314950"/>
            <a:ext cx="12801600" cy="590550"/>
            <a:chOff x="0" y="0"/>
            <a:chExt cx="17068800" cy="78740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17068800" cy="787400"/>
            </a:xfrm>
            <a:custGeom>
              <a:avLst/>
              <a:gdLst/>
              <a:ahLst/>
              <a:cxnLst/>
              <a:rect l="l" t="t" r="r" b="b"/>
              <a:pathLst>
                <a:path w="17068800" h="787400">
                  <a:moveTo>
                    <a:pt x="0" y="0"/>
                  </a:moveTo>
                  <a:lnTo>
                    <a:pt x="17068800" y="0"/>
                  </a:lnTo>
                  <a:lnTo>
                    <a:pt x="17068800" y="787400"/>
                  </a:lnTo>
                  <a:lnTo>
                    <a:pt x="0" y="787400"/>
                  </a:lnTo>
                  <a:close/>
                </a:path>
              </a:pathLst>
            </a:custGeom>
            <a:solidFill>
              <a:srgbClr val="F0F2F5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1276350" y="4724400"/>
            <a:ext cx="12801600" cy="590550"/>
            <a:chOff x="0" y="0"/>
            <a:chExt cx="17068800" cy="78740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17068800" cy="787400"/>
            </a:xfrm>
            <a:custGeom>
              <a:avLst/>
              <a:gdLst/>
              <a:ahLst/>
              <a:cxnLst/>
              <a:rect l="l" t="t" r="r" b="b"/>
              <a:pathLst>
                <a:path w="17068800" h="787400">
                  <a:moveTo>
                    <a:pt x="0" y="0"/>
                  </a:moveTo>
                  <a:lnTo>
                    <a:pt x="17068800" y="0"/>
                  </a:lnTo>
                  <a:lnTo>
                    <a:pt x="17068800" y="787400"/>
                  </a:lnTo>
                  <a:lnTo>
                    <a:pt x="0" y="7874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1276350" y="4133850"/>
            <a:ext cx="12801600" cy="590550"/>
            <a:chOff x="0" y="0"/>
            <a:chExt cx="17068800" cy="787400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17068800" cy="787400"/>
            </a:xfrm>
            <a:custGeom>
              <a:avLst/>
              <a:gdLst/>
              <a:ahLst/>
              <a:cxnLst/>
              <a:rect l="l" t="t" r="r" b="b"/>
              <a:pathLst>
                <a:path w="17068800" h="787400">
                  <a:moveTo>
                    <a:pt x="0" y="0"/>
                  </a:moveTo>
                  <a:lnTo>
                    <a:pt x="17068800" y="0"/>
                  </a:lnTo>
                  <a:lnTo>
                    <a:pt x="17068800" y="787400"/>
                  </a:lnTo>
                  <a:lnTo>
                    <a:pt x="0" y="787400"/>
                  </a:lnTo>
                  <a:close/>
                </a:path>
              </a:pathLst>
            </a:custGeom>
            <a:solidFill>
              <a:srgbClr val="F0F2F5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1276350" y="3543300"/>
            <a:ext cx="12801600" cy="590550"/>
            <a:chOff x="0" y="0"/>
            <a:chExt cx="17068800" cy="787400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17068800" cy="787400"/>
            </a:xfrm>
            <a:custGeom>
              <a:avLst/>
              <a:gdLst/>
              <a:ahLst/>
              <a:cxnLst/>
              <a:rect l="l" t="t" r="r" b="b"/>
              <a:pathLst>
                <a:path w="17068800" h="787400">
                  <a:moveTo>
                    <a:pt x="0" y="0"/>
                  </a:moveTo>
                  <a:lnTo>
                    <a:pt x="17068800" y="0"/>
                  </a:lnTo>
                  <a:lnTo>
                    <a:pt x="17068800" y="787400"/>
                  </a:lnTo>
                  <a:lnTo>
                    <a:pt x="0" y="7874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1276350" y="2952750"/>
            <a:ext cx="12801600" cy="590550"/>
            <a:chOff x="0" y="0"/>
            <a:chExt cx="17068800" cy="787400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17068800" cy="787400"/>
            </a:xfrm>
            <a:custGeom>
              <a:avLst/>
              <a:gdLst/>
              <a:ahLst/>
              <a:cxnLst/>
              <a:rect l="l" t="t" r="r" b="b"/>
              <a:pathLst>
                <a:path w="17068800" h="787400">
                  <a:moveTo>
                    <a:pt x="0" y="0"/>
                  </a:moveTo>
                  <a:lnTo>
                    <a:pt x="17068800" y="0"/>
                  </a:lnTo>
                  <a:lnTo>
                    <a:pt x="17068800" y="787400"/>
                  </a:lnTo>
                  <a:lnTo>
                    <a:pt x="0" y="787400"/>
                  </a:lnTo>
                  <a:close/>
                </a:path>
              </a:pathLst>
            </a:custGeom>
            <a:solidFill>
              <a:srgbClr val="F0F2F5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1276350" y="2362200"/>
            <a:ext cx="12801600" cy="590550"/>
            <a:chOff x="0" y="0"/>
            <a:chExt cx="17068800" cy="787400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17068800" cy="787400"/>
            </a:xfrm>
            <a:custGeom>
              <a:avLst/>
              <a:gdLst/>
              <a:ahLst/>
              <a:cxnLst/>
              <a:rect l="l" t="t" r="r" b="b"/>
              <a:pathLst>
                <a:path w="17068800" h="787400">
                  <a:moveTo>
                    <a:pt x="0" y="0"/>
                  </a:moveTo>
                  <a:lnTo>
                    <a:pt x="17068800" y="0"/>
                  </a:lnTo>
                  <a:lnTo>
                    <a:pt x="17068800" y="787400"/>
                  </a:lnTo>
                  <a:lnTo>
                    <a:pt x="0" y="7874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1276350" y="1771650"/>
            <a:ext cx="12801600" cy="590550"/>
            <a:chOff x="0" y="0"/>
            <a:chExt cx="17068800" cy="787400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17068800" cy="787400"/>
            </a:xfrm>
            <a:custGeom>
              <a:avLst/>
              <a:gdLst/>
              <a:ahLst/>
              <a:cxnLst/>
              <a:rect l="l" t="t" r="r" b="b"/>
              <a:pathLst>
                <a:path w="17068800" h="787400">
                  <a:moveTo>
                    <a:pt x="0" y="0"/>
                  </a:moveTo>
                  <a:lnTo>
                    <a:pt x="17068800" y="0"/>
                  </a:lnTo>
                  <a:lnTo>
                    <a:pt x="17068800" y="787400"/>
                  </a:lnTo>
                  <a:lnTo>
                    <a:pt x="0" y="787400"/>
                  </a:lnTo>
                  <a:close/>
                </a:path>
              </a:pathLst>
            </a:custGeom>
            <a:solidFill>
              <a:srgbClr val="F0F2F5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0" name="TextBox 40"/>
          <p:cNvSpPr txBox="1"/>
          <p:nvPr/>
        </p:nvSpPr>
        <p:spPr>
          <a:xfrm>
            <a:off x="1276350" y="342900"/>
            <a:ext cx="7620000" cy="676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040"/>
              </a:lnSpc>
              <a:spcBef>
                <a:spcPct val="0"/>
              </a:spcBef>
            </a:pPr>
            <a:r>
              <a:rPr lang="en-US" sz="4200" b="1" u="none" strike="noStrike">
                <a:solidFill>
                  <a:srgbClr val="0D1949"/>
                </a:solidFill>
                <a:latin typeface="Poppins Bold"/>
                <a:ea typeface="Poppins Bold"/>
                <a:cs typeface="Poppins Bold"/>
                <a:sym typeface="Poppins Bold"/>
              </a:rPr>
              <a:t>PROJECT GANTT CHART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276350" y="800100"/>
            <a:ext cx="8572500" cy="438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517"/>
              </a:lnSpc>
              <a:spcBef>
                <a:spcPct val="0"/>
              </a:spcBef>
            </a:pPr>
            <a:r>
              <a:rPr lang="en-US" sz="2931" u="none" strike="noStrike">
                <a:solidFill>
                  <a:srgbClr val="636363"/>
                </a:solidFill>
                <a:latin typeface="Garet"/>
                <a:ea typeface="Garet"/>
                <a:cs typeface="Garet"/>
                <a:sym typeface="Garet"/>
              </a:rPr>
              <a:t>StreamList+ Software Development Timeline</a:t>
            </a:r>
          </a:p>
        </p:txBody>
      </p:sp>
      <p:grpSp>
        <p:nvGrpSpPr>
          <p:cNvPr id="42" name="Group 42"/>
          <p:cNvGrpSpPr/>
          <p:nvPr/>
        </p:nvGrpSpPr>
        <p:grpSpPr>
          <a:xfrm>
            <a:off x="1276350" y="1428750"/>
            <a:ext cx="12801600" cy="342900"/>
            <a:chOff x="0" y="0"/>
            <a:chExt cx="17068800" cy="457200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17068800" cy="457200"/>
            </a:xfrm>
            <a:custGeom>
              <a:avLst/>
              <a:gdLst/>
              <a:ahLst/>
              <a:cxnLst/>
              <a:rect l="l" t="t" r="r" b="b"/>
              <a:pathLst>
                <a:path w="17068800" h="457200">
                  <a:moveTo>
                    <a:pt x="0" y="0"/>
                  </a:moveTo>
                  <a:lnTo>
                    <a:pt x="17068800" y="0"/>
                  </a:lnTo>
                  <a:lnTo>
                    <a:pt x="17068800" y="457200"/>
                  </a:lnTo>
                  <a:lnTo>
                    <a:pt x="0" y="457200"/>
                  </a:lnTo>
                  <a:close/>
                </a:path>
              </a:pathLst>
            </a:custGeom>
            <a:solidFill>
              <a:srgbClr val="0D1949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4" name="TextBox 44"/>
          <p:cNvSpPr txBox="1"/>
          <p:nvPr/>
        </p:nvSpPr>
        <p:spPr>
          <a:xfrm>
            <a:off x="3943350" y="1514475"/>
            <a:ext cx="838200" cy="1758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299"/>
              </a:lnSpc>
              <a:spcBef>
                <a:spcPct val="0"/>
              </a:spcBef>
            </a:pPr>
            <a:r>
              <a:rPr lang="en-US" sz="1299" b="1" u="none" strike="noStrike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W1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4781550" y="1514475"/>
            <a:ext cx="838200" cy="1758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299"/>
              </a:lnSpc>
              <a:spcBef>
                <a:spcPct val="0"/>
              </a:spcBef>
            </a:pPr>
            <a:r>
              <a:rPr lang="en-US" sz="1299" b="1" u="none" strike="noStrike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W2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5619750" y="1514475"/>
            <a:ext cx="838200" cy="1758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299"/>
              </a:lnSpc>
              <a:spcBef>
                <a:spcPct val="0"/>
              </a:spcBef>
            </a:pPr>
            <a:r>
              <a:rPr lang="en-US" sz="1299" b="1" u="none" strike="noStrike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W3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6457950" y="1514475"/>
            <a:ext cx="838200" cy="1758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299"/>
              </a:lnSpc>
              <a:spcBef>
                <a:spcPct val="0"/>
              </a:spcBef>
            </a:pPr>
            <a:r>
              <a:rPr lang="en-US" sz="1299" b="1" u="none" strike="noStrike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W4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7296150" y="1514475"/>
            <a:ext cx="838200" cy="1758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299"/>
              </a:lnSpc>
              <a:spcBef>
                <a:spcPct val="0"/>
              </a:spcBef>
            </a:pPr>
            <a:r>
              <a:rPr lang="en-US" sz="1299" b="1" u="none" strike="noStrike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W5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8134350" y="1514475"/>
            <a:ext cx="838200" cy="1758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299"/>
              </a:lnSpc>
              <a:spcBef>
                <a:spcPct val="0"/>
              </a:spcBef>
            </a:pPr>
            <a:r>
              <a:rPr lang="en-US" sz="1299" b="1" u="none" strike="noStrike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W6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8972550" y="1514475"/>
            <a:ext cx="838200" cy="1758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299"/>
              </a:lnSpc>
              <a:spcBef>
                <a:spcPct val="0"/>
              </a:spcBef>
            </a:pPr>
            <a:r>
              <a:rPr lang="en-US" sz="1299" b="1" u="none" strike="noStrike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W7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9810750" y="1514475"/>
            <a:ext cx="838200" cy="1758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299"/>
              </a:lnSpc>
              <a:spcBef>
                <a:spcPct val="0"/>
              </a:spcBef>
            </a:pPr>
            <a:r>
              <a:rPr lang="en-US" sz="1299" b="1" u="none" strike="noStrike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W8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10648950" y="1514475"/>
            <a:ext cx="838200" cy="1758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299"/>
              </a:lnSpc>
              <a:spcBef>
                <a:spcPct val="0"/>
              </a:spcBef>
            </a:pPr>
            <a:r>
              <a:rPr lang="en-US" sz="1299" b="1" u="none" strike="noStrike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W9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11487150" y="1514475"/>
            <a:ext cx="838200" cy="1758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299"/>
              </a:lnSpc>
              <a:spcBef>
                <a:spcPct val="0"/>
              </a:spcBef>
            </a:pPr>
            <a:r>
              <a:rPr lang="en-US" sz="1299" b="1" u="none" strike="noStrike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W10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12325350" y="1514475"/>
            <a:ext cx="838200" cy="1758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299"/>
              </a:lnSpc>
              <a:spcBef>
                <a:spcPct val="0"/>
              </a:spcBef>
            </a:pPr>
            <a:r>
              <a:rPr lang="en-US" sz="1299" b="1" u="none" strike="noStrike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W11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13163550" y="1514475"/>
            <a:ext cx="838200" cy="1758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299"/>
              </a:lnSpc>
              <a:spcBef>
                <a:spcPct val="0"/>
              </a:spcBef>
            </a:pPr>
            <a:r>
              <a:rPr lang="en-US" sz="1299" b="1" u="none" strike="noStrike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W12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1276350" y="1514475"/>
            <a:ext cx="2667000" cy="173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200"/>
              </a:lnSpc>
              <a:spcBef>
                <a:spcPct val="0"/>
              </a:spcBef>
            </a:pPr>
            <a:r>
              <a:rPr lang="en-US" sz="1200" b="1" u="none" strike="noStrike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Task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1390650" y="2000250"/>
            <a:ext cx="2476500" cy="1927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589"/>
              </a:lnSpc>
              <a:spcBef>
                <a:spcPct val="0"/>
              </a:spcBef>
            </a:pPr>
            <a:r>
              <a:rPr lang="en-US" sz="1589" u="none" strike="noStrike">
                <a:solidFill>
                  <a:srgbClr val="1A1A2E"/>
                </a:solidFill>
                <a:latin typeface="Garet"/>
                <a:ea typeface="Garet"/>
                <a:cs typeface="Garet"/>
                <a:sym typeface="Garet"/>
              </a:rPr>
              <a:t>Requirements Analysis</a:t>
            </a:r>
          </a:p>
        </p:txBody>
      </p:sp>
      <p:grpSp>
        <p:nvGrpSpPr>
          <p:cNvPr id="58" name="Group 58"/>
          <p:cNvGrpSpPr/>
          <p:nvPr/>
        </p:nvGrpSpPr>
        <p:grpSpPr>
          <a:xfrm>
            <a:off x="3981450" y="1943100"/>
            <a:ext cx="762000" cy="247650"/>
            <a:chOff x="0" y="0"/>
            <a:chExt cx="1016000" cy="330200"/>
          </a:xfrm>
        </p:grpSpPr>
        <p:sp>
          <p:nvSpPr>
            <p:cNvPr id="59" name="Freeform 59"/>
            <p:cNvSpPr/>
            <p:nvPr/>
          </p:nvSpPr>
          <p:spPr>
            <a:xfrm>
              <a:off x="0" y="0"/>
              <a:ext cx="1016000" cy="330200"/>
            </a:xfrm>
            <a:custGeom>
              <a:avLst/>
              <a:gdLst/>
              <a:ahLst/>
              <a:cxnLst/>
              <a:rect l="l" t="t" r="r" b="b"/>
              <a:pathLst>
                <a:path w="1016000" h="330200">
                  <a:moveTo>
                    <a:pt x="850900" y="0"/>
                  </a:moveTo>
                  <a:cubicBezTo>
                    <a:pt x="942082" y="0"/>
                    <a:pt x="1016000" y="73918"/>
                    <a:pt x="1016000" y="165100"/>
                  </a:cubicBezTo>
                  <a:cubicBezTo>
                    <a:pt x="1016000" y="256282"/>
                    <a:pt x="942082" y="330200"/>
                    <a:pt x="850900" y="330200"/>
                  </a:cubicBezTo>
                  <a:lnTo>
                    <a:pt x="165100" y="330200"/>
                  </a:lnTo>
                  <a:cubicBezTo>
                    <a:pt x="73918" y="330200"/>
                    <a:pt x="0" y="256282"/>
                    <a:pt x="0" y="165100"/>
                  </a:cubicBezTo>
                  <a:cubicBezTo>
                    <a:pt x="0" y="73918"/>
                    <a:pt x="73918" y="0"/>
                    <a:pt x="165100" y="0"/>
                  </a:cubicBezTo>
                  <a:close/>
                </a:path>
              </a:pathLst>
            </a:custGeom>
            <a:solidFill>
              <a:srgbClr val="1B3A8A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0" name="TextBox 60"/>
          <p:cNvSpPr txBox="1"/>
          <p:nvPr/>
        </p:nvSpPr>
        <p:spPr>
          <a:xfrm>
            <a:off x="1390650" y="2590800"/>
            <a:ext cx="2476500" cy="1927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589"/>
              </a:lnSpc>
              <a:spcBef>
                <a:spcPct val="0"/>
              </a:spcBef>
            </a:pPr>
            <a:r>
              <a:rPr lang="en-US" sz="1589" u="none" strike="noStrike">
                <a:solidFill>
                  <a:srgbClr val="1A1A2E"/>
                </a:solidFill>
                <a:latin typeface="Garet"/>
                <a:ea typeface="Garet"/>
                <a:cs typeface="Garet"/>
                <a:sym typeface="Garet"/>
              </a:rPr>
              <a:t>Wireframe Design</a:t>
            </a:r>
          </a:p>
        </p:txBody>
      </p:sp>
      <p:grpSp>
        <p:nvGrpSpPr>
          <p:cNvPr id="61" name="Group 61"/>
          <p:cNvGrpSpPr/>
          <p:nvPr/>
        </p:nvGrpSpPr>
        <p:grpSpPr>
          <a:xfrm>
            <a:off x="3981450" y="2533650"/>
            <a:ext cx="1600200" cy="247650"/>
            <a:chOff x="0" y="0"/>
            <a:chExt cx="2133600" cy="330200"/>
          </a:xfrm>
        </p:grpSpPr>
        <p:sp>
          <p:nvSpPr>
            <p:cNvPr id="62" name="Freeform 62"/>
            <p:cNvSpPr/>
            <p:nvPr/>
          </p:nvSpPr>
          <p:spPr>
            <a:xfrm>
              <a:off x="0" y="0"/>
              <a:ext cx="2133600" cy="330200"/>
            </a:xfrm>
            <a:custGeom>
              <a:avLst/>
              <a:gdLst/>
              <a:ahLst/>
              <a:cxnLst/>
              <a:rect l="l" t="t" r="r" b="b"/>
              <a:pathLst>
                <a:path w="2133600" h="330200">
                  <a:moveTo>
                    <a:pt x="1968500" y="0"/>
                  </a:moveTo>
                  <a:cubicBezTo>
                    <a:pt x="2059682" y="0"/>
                    <a:pt x="2133600" y="73918"/>
                    <a:pt x="2133600" y="165100"/>
                  </a:cubicBezTo>
                  <a:cubicBezTo>
                    <a:pt x="2133600" y="256282"/>
                    <a:pt x="2059682" y="330200"/>
                    <a:pt x="1968500" y="330200"/>
                  </a:cubicBezTo>
                  <a:lnTo>
                    <a:pt x="165100" y="330200"/>
                  </a:lnTo>
                  <a:cubicBezTo>
                    <a:pt x="73918" y="330200"/>
                    <a:pt x="0" y="256282"/>
                    <a:pt x="0" y="165100"/>
                  </a:cubicBezTo>
                  <a:cubicBezTo>
                    <a:pt x="0" y="73918"/>
                    <a:pt x="73918" y="0"/>
                    <a:pt x="165100" y="0"/>
                  </a:cubicBezTo>
                  <a:close/>
                </a:path>
              </a:pathLst>
            </a:custGeom>
            <a:solidFill>
              <a:srgbClr val="2456B8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3" name="TextBox 63"/>
          <p:cNvSpPr txBox="1"/>
          <p:nvPr/>
        </p:nvSpPr>
        <p:spPr>
          <a:xfrm>
            <a:off x="1390650" y="3162300"/>
            <a:ext cx="3619500" cy="1927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589"/>
              </a:lnSpc>
              <a:spcBef>
                <a:spcPct val="0"/>
              </a:spcBef>
            </a:pPr>
            <a:r>
              <a:rPr lang="en-US" sz="1589" u="none" strike="noStrike">
                <a:solidFill>
                  <a:srgbClr val="1A1A2E"/>
                </a:solidFill>
                <a:latin typeface="Garet"/>
                <a:ea typeface="Garet"/>
                <a:cs typeface="Garet"/>
                <a:sym typeface="Garet"/>
              </a:rPr>
              <a:t>User Authentication Module</a:t>
            </a:r>
          </a:p>
        </p:txBody>
      </p:sp>
      <p:grpSp>
        <p:nvGrpSpPr>
          <p:cNvPr id="64" name="Group 64"/>
          <p:cNvGrpSpPr/>
          <p:nvPr/>
        </p:nvGrpSpPr>
        <p:grpSpPr>
          <a:xfrm>
            <a:off x="4819650" y="3124200"/>
            <a:ext cx="2438400" cy="247650"/>
            <a:chOff x="0" y="0"/>
            <a:chExt cx="3251200" cy="330200"/>
          </a:xfrm>
        </p:grpSpPr>
        <p:sp>
          <p:nvSpPr>
            <p:cNvPr id="65" name="Freeform 65"/>
            <p:cNvSpPr/>
            <p:nvPr/>
          </p:nvSpPr>
          <p:spPr>
            <a:xfrm>
              <a:off x="0" y="0"/>
              <a:ext cx="3251200" cy="330200"/>
            </a:xfrm>
            <a:custGeom>
              <a:avLst/>
              <a:gdLst/>
              <a:ahLst/>
              <a:cxnLst/>
              <a:rect l="l" t="t" r="r" b="b"/>
              <a:pathLst>
                <a:path w="3251200" h="330200">
                  <a:moveTo>
                    <a:pt x="3086100" y="0"/>
                  </a:moveTo>
                  <a:cubicBezTo>
                    <a:pt x="3177282" y="0"/>
                    <a:pt x="3251200" y="73918"/>
                    <a:pt x="3251200" y="165100"/>
                  </a:cubicBezTo>
                  <a:cubicBezTo>
                    <a:pt x="3251200" y="256282"/>
                    <a:pt x="3177282" y="330200"/>
                    <a:pt x="3086100" y="330200"/>
                  </a:cubicBezTo>
                  <a:lnTo>
                    <a:pt x="165100" y="330200"/>
                  </a:lnTo>
                  <a:cubicBezTo>
                    <a:pt x="73918" y="330200"/>
                    <a:pt x="0" y="256282"/>
                    <a:pt x="0" y="165100"/>
                  </a:cubicBezTo>
                  <a:cubicBezTo>
                    <a:pt x="0" y="73918"/>
                    <a:pt x="73918" y="0"/>
                    <a:pt x="165100" y="0"/>
                  </a:cubicBezTo>
                  <a:close/>
                </a:path>
              </a:pathLst>
            </a:custGeom>
            <a:solidFill>
              <a:srgbClr val="2D6DD4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6" name="TextBox 66"/>
          <p:cNvSpPr txBox="1"/>
          <p:nvPr/>
        </p:nvSpPr>
        <p:spPr>
          <a:xfrm>
            <a:off x="1390650" y="3771900"/>
            <a:ext cx="3619500" cy="1927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589"/>
              </a:lnSpc>
              <a:spcBef>
                <a:spcPct val="0"/>
              </a:spcBef>
            </a:pPr>
            <a:r>
              <a:rPr lang="en-US" sz="1589" u="none" strike="noStrike">
                <a:solidFill>
                  <a:srgbClr val="1A1A2E"/>
                </a:solidFill>
                <a:latin typeface="Garet"/>
                <a:ea typeface="Garet"/>
                <a:cs typeface="Garet"/>
                <a:sym typeface="Garet"/>
              </a:rPr>
              <a:t>Subscription Management Module</a:t>
            </a:r>
          </a:p>
        </p:txBody>
      </p:sp>
      <p:grpSp>
        <p:nvGrpSpPr>
          <p:cNvPr id="67" name="Group 67"/>
          <p:cNvGrpSpPr/>
          <p:nvPr/>
        </p:nvGrpSpPr>
        <p:grpSpPr>
          <a:xfrm>
            <a:off x="5657850" y="3714750"/>
            <a:ext cx="2438400" cy="247650"/>
            <a:chOff x="0" y="0"/>
            <a:chExt cx="3251200" cy="330200"/>
          </a:xfrm>
        </p:grpSpPr>
        <p:sp>
          <p:nvSpPr>
            <p:cNvPr id="68" name="Freeform 68"/>
            <p:cNvSpPr/>
            <p:nvPr/>
          </p:nvSpPr>
          <p:spPr>
            <a:xfrm>
              <a:off x="0" y="0"/>
              <a:ext cx="3251200" cy="330200"/>
            </a:xfrm>
            <a:custGeom>
              <a:avLst/>
              <a:gdLst/>
              <a:ahLst/>
              <a:cxnLst/>
              <a:rect l="l" t="t" r="r" b="b"/>
              <a:pathLst>
                <a:path w="3251200" h="330200">
                  <a:moveTo>
                    <a:pt x="3086100" y="0"/>
                  </a:moveTo>
                  <a:cubicBezTo>
                    <a:pt x="3177282" y="0"/>
                    <a:pt x="3251200" y="73918"/>
                    <a:pt x="3251200" y="165100"/>
                  </a:cubicBezTo>
                  <a:cubicBezTo>
                    <a:pt x="3251200" y="256282"/>
                    <a:pt x="3177282" y="330200"/>
                    <a:pt x="3086100" y="330200"/>
                  </a:cubicBezTo>
                  <a:lnTo>
                    <a:pt x="165100" y="330200"/>
                  </a:lnTo>
                  <a:cubicBezTo>
                    <a:pt x="73918" y="330200"/>
                    <a:pt x="0" y="256282"/>
                    <a:pt x="0" y="165100"/>
                  </a:cubicBezTo>
                  <a:cubicBezTo>
                    <a:pt x="0" y="73918"/>
                    <a:pt x="73918" y="0"/>
                    <a:pt x="165100" y="0"/>
                  </a:cubicBezTo>
                  <a:close/>
                </a:path>
              </a:pathLst>
            </a:custGeom>
            <a:solidFill>
              <a:srgbClr val="3584E4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9" name="TextBox 69"/>
          <p:cNvSpPr txBox="1"/>
          <p:nvPr/>
        </p:nvSpPr>
        <p:spPr>
          <a:xfrm>
            <a:off x="1390650" y="4362450"/>
            <a:ext cx="2476500" cy="1927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589"/>
              </a:lnSpc>
              <a:spcBef>
                <a:spcPct val="0"/>
              </a:spcBef>
            </a:pPr>
            <a:r>
              <a:rPr lang="en-US" sz="1589" u="none" strike="noStrike">
                <a:solidFill>
                  <a:srgbClr val="1A1A2E"/>
                </a:solidFill>
                <a:latin typeface="Garet"/>
                <a:ea typeface="Garet"/>
                <a:cs typeface="Garet"/>
                <a:sym typeface="Garet"/>
              </a:rPr>
              <a:t>Content Search Module</a:t>
            </a:r>
          </a:p>
        </p:txBody>
      </p:sp>
      <p:grpSp>
        <p:nvGrpSpPr>
          <p:cNvPr id="70" name="Group 70"/>
          <p:cNvGrpSpPr/>
          <p:nvPr/>
        </p:nvGrpSpPr>
        <p:grpSpPr>
          <a:xfrm>
            <a:off x="5657850" y="4305300"/>
            <a:ext cx="3276600" cy="247650"/>
            <a:chOff x="0" y="0"/>
            <a:chExt cx="4368800" cy="330200"/>
          </a:xfrm>
        </p:grpSpPr>
        <p:sp>
          <p:nvSpPr>
            <p:cNvPr id="71" name="Freeform 71"/>
            <p:cNvSpPr/>
            <p:nvPr/>
          </p:nvSpPr>
          <p:spPr>
            <a:xfrm>
              <a:off x="0" y="0"/>
              <a:ext cx="4368800" cy="330200"/>
            </a:xfrm>
            <a:custGeom>
              <a:avLst/>
              <a:gdLst/>
              <a:ahLst/>
              <a:cxnLst/>
              <a:rect l="l" t="t" r="r" b="b"/>
              <a:pathLst>
                <a:path w="4368800" h="330200">
                  <a:moveTo>
                    <a:pt x="4203700" y="0"/>
                  </a:moveTo>
                  <a:cubicBezTo>
                    <a:pt x="4294882" y="0"/>
                    <a:pt x="4368800" y="73918"/>
                    <a:pt x="4368800" y="165100"/>
                  </a:cubicBezTo>
                  <a:cubicBezTo>
                    <a:pt x="4368800" y="256282"/>
                    <a:pt x="4294882" y="330200"/>
                    <a:pt x="4203700" y="330200"/>
                  </a:cubicBezTo>
                  <a:lnTo>
                    <a:pt x="165100" y="330200"/>
                  </a:lnTo>
                  <a:cubicBezTo>
                    <a:pt x="73918" y="330200"/>
                    <a:pt x="0" y="256282"/>
                    <a:pt x="0" y="165100"/>
                  </a:cubicBezTo>
                  <a:cubicBezTo>
                    <a:pt x="0" y="73918"/>
                    <a:pt x="73918" y="0"/>
                    <a:pt x="165100" y="0"/>
                  </a:cubicBezTo>
                  <a:close/>
                </a:path>
              </a:pathLst>
            </a:custGeom>
            <a:solidFill>
              <a:srgbClr val="4A9AF5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72" name="TextBox 72"/>
          <p:cNvSpPr txBox="1"/>
          <p:nvPr/>
        </p:nvSpPr>
        <p:spPr>
          <a:xfrm>
            <a:off x="1390650" y="4829175"/>
            <a:ext cx="4191000" cy="2018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572"/>
              </a:lnSpc>
              <a:spcBef>
                <a:spcPct val="0"/>
              </a:spcBef>
            </a:pPr>
            <a:r>
              <a:rPr lang="en-US" sz="1572" u="none" strike="noStrike">
                <a:solidFill>
                  <a:srgbClr val="1A1A2E"/>
                </a:solidFill>
                <a:latin typeface="Garet"/>
                <a:ea typeface="Garet"/>
                <a:cs typeface="Garet"/>
                <a:sym typeface="Garet"/>
              </a:rPr>
              <a:t>Recommendation Engine Development</a:t>
            </a:r>
          </a:p>
        </p:txBody>
      </p:sp>
      <p:grpSp>
        <p:nvGrpSpPr>
          <p:cNvPr id="73" name="Group 73"/>
          <p:cNvGrpSpPr/>
          <p:nvPr/>
        </p:nvGrpSpPr>
        <p:grpSpPr>
          <a:xfrm>
            <a:off x="7334250" y="4895850"/>
            <a:ext cx="2438400" cy="247650"/>
            <a:chOff x="0" y="0"/>
            <a:chExt cx="3251200" cy="330200"/>
          </a:xfrm>
        </p:grpSpPr>
        <p:sp>
          <p:nvSpPr>
            <p:cNvPr id="74" name="Freeform 74"/>
            <p:cNvSpPr/>
            <p:nvPr/>
          </p:nvSpPr>
          <p:spPr>
            <a:xfrm>
              <a:off x="0" y="0"/>
              <a:ext cx="3251200" cy="330200"/>
            </a:xfrm>
            <a:custGeom>
              <a:avLst/>
              <a:gdLst/>
              <a:ahLst/>
              <a:cxnLst/>
              <a:rect l="l" t="t" r="r" b="b"/>
              <a:pathLst>
                <a:path w="3251200" h="330200">
                  <a:moveTo>
                    <a:pt x="3086100" y="0"/>
                  </a:moveTo>
                  <a:cubicBezTo>
                    <a:pt x="3177282" y="0"/>
                    <a:pt x="3251200" y="73918"/>
                    <a:pt x="3251200" y="165100"/>
                  </a:cubicBezTo>
                  <a:cubicBezTo>
                    <a:pt x="3251200" y="256282"/>
                    <a:pt x="3177282" y="330200"/>
                    <a:pt x="3086100" y="330200"/>
                  </a:cubicBezTo>
                  <a:lnTo>
                    <a:pt x="165100" y="330200"/>
                  </a:lnTo>
                  <a:cubicBezTo>
                    <a:pt x="73918" y="330200"/>
                    <a:pt x="0" y="256282"/>
                    <a:pt x="0" y="165100"/>
                  </a:cubicBezTo>
                  <a:cubicBezTo>
                    <a:pt x="0" y="73918"/>
                    <a:pt x="73918" y="0"/>
                    <a:pt x="165100" y="0"/>
                  </a:cubicBezTo>
                  <a:close/>
                </a:path>
              </a:pathLst>
            </a:custGeom>
            <a:solidFill>
              <a:srgbClr val="60C2CE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75" name="TextBox 75"/>
          <p:cNvSpPr txBox="1"/>
          <p:nvPr/>
        </p:nvSpPr>
        <p:spPr>
          <a:xfrm>
            <a:off x="1390650" y="5534025"/>
            <a:ext cx="3619500" cy="1927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589"/>
              </a:lnSpc>
              <a:spcBef>
                <a:spcPct val="0"/>
              </a:spcBef>
            </a:pPr>
            <a:r>
              <a:rPr lang="en-US" sz="1589" u="none" strike="noStrike">
                <a:solidFill>
                  <a:srgbClr val="1A1A2E"/>
                </a:solidFill>
                <a:latin typeface="Garet"/>
                <a:ea typeface="Garet"/>
                <a:cs typeface="Garet"/>
                <a:sym typeface="Garet"/>
              </a:rPr>
              <a:t>Watchlist Feature Development</a:t>
            </a:r>
          </a:p>
        </p:txBody>
      </p:sp>
      <p:grpSp>
        <p:nvGrpSpPr>
          <p:cNvPr id="76" name="Group 76"/>
          <p:cNvGrpSpPr/>
          <p:nvPr/>
        </p:nvGrpSpPr>
        <p:grpSpPr>
          <a:xfrm>
            <a:off x="7334250" y="5486400"/>
            <a:ext cx="2438400" cy="247650"/>
            <a:chOff x="0" y="0"/>
            <a:chExt cx="3251200" cy="330200"/>
          </a:xfrm>
        </p:grpSpPr>
        <p:sp>
          <p:nvSpPr>
            <p:cNvPr id="77" name="Freeform 77"/>
            <p:cNvSpPr/>
            <p:nvPr/>
          </p:nvSpPr>
          <p:spPr>
            <a:xfrm>
              <a:off x="0" y="0"/>
              <a:ext cx="3251200" cy="330200"/>
            </a:xfrm>
            <a:custGeom>
              <a:avLst/>
              <a:gdLst/>
              <a:ahLst/>
              <a:cxnLst/>
              <a:rect l="l" t="t" r="r" b="b"/>
              <a:pathLst>
                <a:path w="3251200" h="330200">
                  <a:moveTo>
                    <a:pt x="3086100" y="0"/>
                  </a:moveTo>
                  <a:cubicBezTo>
                    <a:pt x="3177282" y="0"/>
                    <a:pt x="3251200" y="73918"/>
                    <a:pt x="3251200" y="165100"/>
                  </a:cubicBezTo>
                  <a:cubicBezTo>
                    <a:pt x="3251200" y="256282"/>
                    <a:pt x="3177282" y="330200"/>
                    <a:pt x="3086100" y="330200"/>
                  </a:cubicBezTo>
                  <a:lnTo>
                    <a:pt x="165100" y="330200"/>
                  </a:lnTo>
                  <a:cubicBezTo>
                    <a:pt x="73918" y="330200"/>
                    <a:pt x="0" y="256282"/>
                    <a:pt x="0" y="165100"/>
                  </a:cubicBezTo>
                  <a:cubicBezTo>
                    <a:pt x="0" y="73918"/>
                    <a:pt x="73918" y="0"/>
                    <a:pt x="165100" y="0"/>
                  </a:cubicBezTo>
                  <a:close/>
                </a:path>
              </a:pathLst>
            </a:custGeom>
            <a:solidFill>
              <a:srgbClr val="1B3A8A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78" name="TextBox 78"/>
          <p:cNvSpPr txBox="1"/>
          <p:nvPr/>
        </p:nvSpPr>
        <p:spPr>
          <a:xfrm>
            <a:off x="1390650" y="6115050"/>
            <a:ext cx="3619500" cy="1927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589"/>
              </a:lnSpc>
              <a:spcBef>
                <a:spcPct val="0"/>
              </a:spcBef>
            </a:pPr>
            <a:r>
              <a:rPr lang="en-US" sz="1589" u="none" strike="noStrike">
                <a:solidFill>
                  <a:srgbClr val="1A1A2E"/>
                </a:solidFill>
                <a:latin typeface="Garet"/>
                <a:ea typeface="Garet"/>
                <a:cs typeface="Garet"/>
                <a:sym typeface="Garet"/>
              </a:rPr>
              <a:t>Ratings and Reviews Feature</a:t>
            </a:r>
          </a:p>
        </p:txBody>
      </p:sp>
      <p:grpSp>
        <p:nvGrpSpPr>
          <p:cNvPr id="79" name="Group 79"/>
          <p:cNvGrpSpPr/>
          <p:nvPr/>
        </p:nvGrpSpPr>
        <p:grpSpPr>
          <a:xfrm>
            <a:off x="8172450" y="6076950"/>
            <a:ext cx="2438400" cy="247650"/>
            <a:chOff x="0" y="0"/>
            <a:chExt cx="3251200" cy="330200"/>
          </a:xfrm>
        </p:grpSpPr>
        <p:sp>
          <p:nvSpPr>
            <p:cNvPr id="80" name="Freeform 80"/>
            <p:cNvSpPr/>
            <p:nvPr/>
          </p:nvSpPr>
          <p:spPr>
            <a:xfrm>
              <a:off x="0" y="0"/>
              <a:ext cx="3251200" cy="330200"/>
            </a:xfrm>
            <a:custGeom>
              <a:avLst/>
              <a:gdLst/>
              <a:ahLst/>
              <a:cxnLst/>
              <a:rect l="l" t="t" r="r" b="b"/>
              <a:pathLst>
                <a:path w="3251200" h="330200">
                  <a:moveTo>
                    <a:pt x="3086100" y="0"/>
                  </a:moveTo>
                  <a:cubicBezTo>
                    <a:pt x="3177282" y="0"/>
                    <a:pt x="3251200" y="73918"/>
                    <a:pt x="3251200" y="165100"/>
                  </a:cubicBezTo>
                  <a:cubicBezTo>
                    <a:pt x="3251200" y="256282"/>
                    <a:pt x="3177282" y="330200"/>
                    <a:pt x="3086100" y="330200"/>
                  </a:cubicBezTo>
                  <a:lnTo>
                    <a:pt x="165100" y="330200"/>
                  </a:lnTo>
                  <a:cubicBezTo>
                    <a:pt x="73918" y="330200"/>
                    <a:pt x="0" y="256282"/>
                    <a:pt x="0" y="165100"/>
                  </a:cubicBezTo>
                  <a:cubicBezTo>
                    <a:pt x="0" y="73918"/>
                    <a:pt x="73918" y="0"/>
                    <a:pt x="165100" y="0"/>
                  </a:cubicBezTo>
                  <a:close/>
                </a:path>
              </a:pathLst>
            </a:custGeom>
            <a:solidFill>
              <a:srgbClr val="2456B8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81" name="TextBox 81"/>
          <p:cNvSpPr txBox="1"/>
          <p:nvPr/>
        </p:nvSpPr>
        <p:spPr>
          <a:xfrm>
            <a:off x="1390650" y="6715125"/>
            <a:ext cx="3619500" cy="1927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589"/>
              </a:lnSpc>
              <a:spcBef>
                <a:spcPct val="0"/>
              </a:spcBef>
            </a:pPr>
            <a:r>
              <a:rPr lang="en-US" sz="1589" u="none" strike="noStrike">
                <a:solidFill>
                  <a:srgbClr val="1A1A2E"/>
                </a:solidFill>
                <a:latin typeface="Garet"/>
                <a:ea typeface="Garet"/>
                <a:cs typeface="Garet"/>
                <a:sym typeface="Garet"/>
              </a:rPr>
              <a:t>Streaming Playback Integration</a:t>
            </a:r>
          </a:p>
        </p:txBody>
      </p:sp>
      <p:grpSp>
        <p:nvGrpSpPr>
          <p:cNvPr id="82" name="Group 82"/>
          <p:cNvGrpSpPr/>
          <p:nvPr/>
        </p:nvGrpSpPr>
        <p:grpSpPr>
          <a:xfrm>
            <a:off x="8172450" y="6667500"/>
            <a:ext cx="3276600" cy="247650"/>
            <a:chOff x="0" y="0"/>
            <a:chExt cx="4368800" cy="330200"/>
          </a:xfrm>
        </p:grpSpPr>
        <p:sp>
          <p:nvSpPr>
            <p:cNvPr id="83" name="Freeform 83"/>
            <p:cNvSpPr/>
            <p:nvPr/>
          </p:nvSpPr>
          <p:spPr>
            <a:xfrm>
              <a:off x="0" y="0"/>
              <a:ext cx="4368800" cy="330200"/>
            </a:xfrm>
            <a:custGeom>
              <a:avLst/>
              <a:gdLst/>
              <a:ahLst/>
              <a:cxnLst/>
              <a:rect l="l" t="t" r="r" b="b"/>
              <a:pathLst>
                <a:path w="4368800" h="330200">
                  <a:moveTo>
                    <a:pt x="4203700" y="0"/>
                  </a:moveTo>
                  <a:cubicBezTo>
                    <a:pt x="4294882" y="0"/>
                    <a:pt x="4368800" y="73918"/>
                    <a:pt x="4368800" y="165100"/>
                  </a:cubicBezTo>
                  <a:cubicBezTo>
                    <a:pt x="4368800" y="256282"/>
                    <a:pt x="4294882" y="330200"/>
                    <a:pt x="4203700" y="330200"/>
                  </a:cubicBezTo>
                  <a:lnTo>
                    <a:pt x="165100" y="330200"/>
                  </a:lnTo>
                  <a:cubicBezTo>
                    <a:pt x="73918" y="330200"/>
                    <a:pt x="0" y="256282"/>
                    <a:pt x="0" y="165100"/>
                  </a:cubicBezTo>
                  <a:cubicBezTo>
                    <a:pt x="0" y="73918"/>
                    <a:pt x="73918" y="0"/>
                    <a:pt x="165100" y="0"/>
                  </a:cubicBezTo>
                  <a:close/>
                </a:path>
              </a:pathLst>
            </a:custGeom>
            <a:solidFill>
              <a:srgbClr val="2D6DD4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84" name="TextBox 84"/>
          <p:cNvSpPr txBox="1"/>
          <p:nvPr/>
        </p:nvSpPr>
        <p:spPr>
          <a:xfrm>
            <a:off x="1390650" y="7286625"/>
            <a:ext cx="3619500" cy="1927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589"/>
              </a:lnSpc>
              <a:spcBef>
                <a:spcPct val="0"/>
              </a:spcBef>
            </a:pPr>
            <a:r>
              <a:rPr lang="en-US" sz="1589" u="none" strike="noStrike">
                <a:solidFill>
                  <a:srgbClr val="1A1A2E"/>
                </a:solidFill>
                <a:latin typeface="Garet"/>
                <a:ea typeface="Garet"/>
                <a:cs typeface="Garet"/>
                <a:sym typeface="Garet"/>
              </a:rPr>
              <a:t>User Dashboard Development</a:t>
            </a:r>
          </a:p>
        </p:txBody>
      </p:sp>
      <p:grpSp>
        <p:nvGrpSpPr>
          <p:cNvPr id="85" name="Group 85"/>
          <p:cNvGrpSpPr/>
          <p:nvPr/>
        </p:nvGrpSpPr>
        <p:grpSpPr>
          <a:xfrm>
            <a:off x="6496050" y="7258050"/>
            <a:ext cx="4114800" cy="247650"/>
            <a:chOff x="0" y="0"/>
            <a:chExt cx="5486400" cy="330200"/>
          </a:xfrm>
        </p:grpSpPr>
        <p:sp>
          <p:nvSpPr>
            <p:cNvPr id="86" name="Freeform 86"/>
            <p:cNvSpPr/>
            <p:nvPr/>
          </p:nvSpPr>
          <p:spPr>
            <a:xfrm>
              <a:off x="0" y="0"/>
              <a:ext cx="5486400" cy="330200"/>
            </a:xfrm>
            <a:custGeom>
              <a:avLst/>
              <a:gdLst/>
              <a:ahLst/>
              <a:cxnLst/>
              <a:rect l="l" t="t" r="r" b="b"/>
              <a:pathLst>
                <a:path w="5486400" h="330200">
                  <a:moveTo>
                    <a:pt x="5321300" y="0"/>
                  </a:moveTo>
                  <a:cubicBezTo>
                    <a:pt x="5412482" y="0"/>
                    <a:pt x="5486400" y="73918"/>
                    <a:pt x="5486400" y="165100"/>
                  </a:cubicBezTo>
                  <a:cubicBezTo>
                    <a:pt x="5486400" y="256282"/>
                    <a:pt x="5412482" y="330200"/>
                    <a:pt x="5321300" y="330200"/>
                  </a:cubicBezTo>
                  <a:lnTo>
                    <a:pt x="165100" y="330200"/>
                  </a:lnTo>
                  <a:cubicBezTo>
                    <a:pt x="73918" y="330200"/>
                    <a:pt x="0" y="256282"/>
                    <a:pt x="0" y="165100"/>
                  </a:cubicBezTo>
                  <a:cubicBezTo>
                    <a:pt x="0" y="73918"/>
                    <a:pt x="73918" y="0"/>
                    <a:pt x="165100" y="0"/>
                  </a:cubicBezTo>
                  <a:close/>
                </a:path>
              </a:pathLst>
            </a:custGeom>
            <a:solidFill>
              <a:srgbClr val="3584E4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87" name="TextBox 87"/>
          <p:cNvSpPr txBox="1"/>
          <p:nvPr/>
        </p:nvSpPr>
        <p:spPr>
          <a:xfrm>
            <a:off x="1390650" y="7896225"/>
            <a:ext cx="3619500" cy="1927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589"/>
              </a:lnSpc>
              <a:spcBef>
                <a:spcPct val="0"/>
              </a:spcBef>
            </a:pPr>
            <a:r>
              <a:rPr lang="en-US" sz="1589" u="none" strike="noStrike">
                <a:solidFill>
                  <a:srgbClr val="1A1A2E"/>
                </a:solidFill>
                <a:latin typeface="Garet"/>
                <a:ea typeface="Garet"/>
                <a:cs typeface="Garet"/>
                <a:sym typeface="Garet"/>
              </a:rPr>
              <a:t>Testing and Quality Assurance</a:t>
            </a:r>
          </a:p>
        </p:txBody>
      </p:sp>
      <p:grpSp>
        <p:nvGrpSpPr>
          <p:cNvPr id="88" name="Group 88"/>
          <p:cNvGrpSpPr/>
          <p:nvPr/>
        </p:nvGrpSpPr>
        <p:grpSpPr>
          <a:xfrm>
            <a:off x="10687050" y="7848600"/>
            <a:ext cx="2438400" cy="247650"/>
            <a:chOff x="0" y="0"/>
            <a:chExt cx="3251200" cy="330200"/>
          </a:xfrm>
        </p:grpSpPr>
        <p:sp>
          <p:nvSpPr>
            <p:cNvPr id="89" name="Freeform 89"/>
            <p:cNvSpPr/>
            <p:nvPr/>
          </p:nvSpPr>
          <p:spPr>
            <a:xfrm>
              <a:off x="0" y="0"/>
              <a:ext cx="3251200" cy="330200"/>
            </a:xfrm>
            <a:custGeom>
              <a:avLst/>
              <a:gdLst/>
              <a:ahLst/>
              <a:cxnLst/>
              <a:rect l="l" t="t" r="r" b="b"/>
              <a:pathLst>
                <a:path w="3251200" h="330200">
                  <a:moveTo>
                    <a:pt x="3086100" y="0"/>
                  </a:moveTo>
                  <a:cubicBezTo>
                    <a:pt x="3177282" y="0"/>
                    <a:pt x="3251200" y="73918"/>
                    <a:pt x="3251200" y="165100"/>
                  </a:cubicBezTo>
                  <a:cubicBezTo>
                    <a:pt x="3251200" y="256282"/>
                    <a:pt x="3177282" y="330200"/>
                    <a:pt x="3086100" y="330200"/>
                  </a:cubicBezTo>
                  <a:lnTo>
                    <a:pt x="165100" y="330200"/>
                  </a:lnTo>
                  <a:cubicBezTo>
                    <a:pt x="73918" y="330200"/>
                    <a:pt x="0" y="256282"/>
                    <a:pt x="0" y="165100"/>
                  </a:cubicBezTo>
                  <a:cubicBezTo>
                    <a:pt x="0" y="73918"/>
                    <a:pt x="73918" y="0"/>
                    <a:pt x="165100" y="0"/>
                  </a:cubicBezTo>
                  <a:close/>
                </a:path>
              </a:pathLst>
            </a:custGeom>
            <a:solidFill>
              <a:srgbClr val="4A9AF5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90" name="TextBox 90"/>
          <p:cNvSpPr txBox="1"/>
          <p:nvPr/>
        </p:nvSpPr>
        <p:spPr>
          <a:xfrm>
            <a:off x="1390650" y="8496300"/>
            <a:ext cx="2476500" cy="1927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589"/>
              </a:lnSpc>
              <a:spcBef>
                <a:spcPct val="0"/>
              </a:spcBef>
            </a:pPr>
            <a:r>
              <a:rPr lang="en-US" sz="1589" u="none" strike="noStrike">
                <a:solidFill>
                  <a:srgbClr val="1A1A2E"/>
                </a:solidFill>
                <a:latin typeface="Garet"/>
                <a:ea typeface="Garet"/>
                <a:cs typeface="Garet"/>
                <a:sym typeface="Garet"/>
              </a:rPr>
              <a:t>Final Deployment</a:t>
            </a:r>
          </a:p>
        </p:txBody>
      </p:sp>
      <p:grpSp>
        <p:nvGrpSpPr>
          <p:cNvPr id="91" name="Group 91"/>
          <p:cNvGrpSpPr/>
          <p:nvPr/>
        </p:nvGrpSpPr>
        <p:grpSpPr>
          <a:xfrm>
            <a:off x="13201650" y="8439150"/>
            <a:ext cx="762000" cy="247650"/>
            <a:chOff x="0" y="0"/>
            <a:chExt cx="1016000" cy="330200"/>
          </a:xfrm>
        </p:grpSpPr>
        <p:sp>
          <p:nvSpPr>
            <p:cNvPr id="92" name="Freeform 92"/>
            <p:cNvSpPr/>
            <p:nvPr/>
          </p:nvSpPr>
          <p:spPr>
            <a:xfrm>
              <a:off x="0" y="0"/>
              <a:ext cx="1016000" cy="330200"/>
            </a:xfrm>
            <a:custGeom>
              <a:avLst/>
              <a:gdLst/>
              <a:ahLst/>
              <a:cxnLst/>
              <a:rect l="l" t="t" r="r" b="b"/>
              <a:pathLst>
                <a:path w="1016000" h="330200">
                  <a:moveTo>
                    <a:pt x="850900" y="0"/>
                  </a:moveTo>
                  <a:cubicBezTo>
                    <a:pt x="942082" y="0"/>
                    <a:pt x="1016000" y="73918"/>
                    <a:pt x="1016000" y="165100"/>
                  </a:cubicBezTo>
                  <a:cubicBezTo>
                    <a:pt x="1016000" y="256282"/>
                    <a:pt x="942082" y="330200"/>
                    <a:pt x="850900" y="330200"/>
                  </a:cubicBezTo>
                  <a:lnTo>
                    <a:pt x="165100" y="330200"/>
                  </a:lnTo>
                  <a:cubicBezTo>
                    <a:pt x="73918" y="330200"/>
                    <a:pt x="0" y="256282"/>
                    <a:pt x="0" y="165100"/>
                  </a:cubicBezTo>
                  <a:cubicBezTo>
                    <a:pt x="0" y="73918"/>
                    <a:pt x="73918" y="0"/>
                    <a:pt x="165100" y="0"/>
                  </a:cubicBezTo>
                  <a:close/>
                </a:path>
              </a:pathLst>
            </a:custGeom>
            <a:solidFill>
              <a:srgbClr val="60C2CE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93" name="Group 93"/>
          <p:cNvGrpSpPr/>
          <p:nvPr/>
        </p:nvGrpSpPr>
        <p:grpSpPr>
          <a:xfrm>
            <a:off x="0" y="9906000"/>
            <a:ext cx="18288000" cy="57150"/>
            <a:chOff x="0" y="0"/>
            <a:chExt cx="24384000" cy="76200"/>
          </a:xfrm>
        </p:grpSpPr>
        <p:sp>
          <p:nvSpPr>
            <p:cNvPr id="94" name="Freeform 94"/>
            <p:cNvSpPr/>
            <p:nvPr/>
          </p:nvSpPr>
          <p:spPr>
            <a:xfrm>
              <a:off x="0" y="0"/>
              <a:ext cx="24384000" cy="76200"/>
            </a:xfrm>
            <a:custGeom>
              <a:avLst/>
              <a:gdLst/>
              <a:ahLst/>
              <a:cxnLst/>
              <a:rect l="l" t="t" r="r" b="b"/>
              <a:pathLst>
                <a:path w="24384000" h="76200">
                  <a:moveTo>
                    <a:pt x="0" y="0"/>
                  </a:moveTo>
                  <a:lnTo>
                    <a:pt x="24384000" y="0"/>
                  </a:lnTo>
                  <a:lnTo>
                    <a:pt x="243840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2456B8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95" name="Group 95"/>
          <p:cNvGrpSpPr/>
          <p:nvPr/>
        </p:nvGrpSpPr>
        <p:grpSpPr>
          <a:xfrm>
            <a:off x="14763750" y="8696325"/>
            <a:ext cx="171450" cy="171450"/>
            <a:chOff x="0" y="0"/>
            <a:chExt cx="228600" cy="228600"/>
          </a:xfrm>
        </p:grpSpPr>
        <p:sp>
          <p:nvSpPr>
            <p:cNvPr id="96" name="Freeform 96"/>
            <p:cNvSpPr/>
            <p:nvPr/>
          </p:nvSpPr>
          <p:spPr>
            <a:xfrm>
              <a:off x="0" y="0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114300" y="0"/>
                  </a:moveTo>
                  <a:cubicBezTo>
                    <a:pt x="177426" y="0"/>
                    <a:pt x="228600" y="51174"/>
                    <a:pt x="228600" y="114300"/>
                  </a:cubicBezTo>
                  <a:cubicBezTo>
                    <a:pt x="228600" y="177426"/>
                    <a:pt x="177426" y="228600"/>
                    <a:pt x="114300" y="228600"/>
                  </a:cubicBezTo>
                  <a:cubicBezTo>
                    <a:pt x="51174" y="228600"/>
                    <a:pt x="0" y="177426"/>
                    <a:pt x="0" y="114300"/>
                  </a:cubicBez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60C2CE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97" name="Group 97"/>
          <p:cNvGrpSpPr/>
          <p:nvPr/>
        </p:nvGrpSpPr>
        <p:grpSpPr>
          <a:xfrm>
            <a:off x="14763750" y="8505825"/>
            <a:ext cx="171450" cy="171450"/>
            <a:chOff x="0" y="0"/>
            <a:chExt cx="228600" cy="228600"/>
          </a:xfrm>
        </p:grpSpPr>
        <p:sp>
          <p:nvSpPr>
            <p:cNvPr id="98" name="Freeform 98"/>
            <p:cNvSpPr/>
            <p:nvPr/>
          </p:nvSpPr>
          <p:spPr>
            <a:xfrm>
              <a:off x="0" y="0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114300" y="0"/>
                  </a:moveTo>
                  <a:cubicBezTo>
                    <a:pt x="177426" y="0"/>
                    <a:pt x="228600" y="51174"/>
                    <a:pt x="228600" y="114300"/>
                  </a:cubicBezTo>
                  <a:cubicBezTo>
                    <a:pt x="228600" y="177426"/>
                    <a:pt x="177426" y="228600"/>
                    <a:pt x="114300" y="228600"/>
                  </a:cubicBezTo>
                  <a:cubicBezTo>
                    <a:pt x="51174" y="228600"/>
                    <a:pt x="0" y="177426"/>
                    <a:pt x="0" y="114300"/>
                  </a:cubicBez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4A9AF5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99" name="Group 99"/>
          <p:cNvGrpSpPr/>
          <p:nvPr/>
        </p:nvGrpSpPr>
        <p:grpSpPr>
          <a:xfrm>
            <a:off x="14763750" y="8315325"/>
            <a:ext cx="171450" cy="171450"/>
            <a:chOff x="0" y="0"/>
            <a:chExt cx="228600" cy="228600"/>
          </a:xfrm>
        </p:grpSpPr>
        <p:sp>
          <p:nvSpPr>
            <p:cNvPr id="100" name="Freeform 100"/>
            <p:cNvSpPr/>
            <p:nvPr/>
          </p:nvSpPr>
          <p:spPr>
            <a:xfrm>
              <a:off x="0" y="0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114300" y="0"/>
                  </a:moveTo>
                  <a:cubicBezTo>
                    <a:pt x="177426" y="0"/>
                    <a:pt x="228600" y="51174"/>
                    <a:pt x="228600" y="114300"/>
                  </a:cubicBezTo>
                  <a:cubicBezTo>
                    <a:pt x="228600" y="177426"/>
                    <a:pt x="177426" y="228600"/>
                    <a:pt x="114300" y="228600"/>
                  </a:cubicBezTo>
                  <a:cubicBezTo>
                    <a:pt x="51174" y="228600"/>
                    <a:pt x="0" y="177426"/>
                    <a:pt x="0" y="114300"/>
                  </a:cubicBez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1B3A8A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01" name="TextBox 101"/>
          <p:cNvSpPr txBox="1"/>
          <p:nvPr/>
        </p:nvSpPr>
        <p:spPr>
          <a:xfrm>
            <a:off x="5334000" y="9115425"/>
            <a:ext cx="9525000" cy="276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250"/>
              </a:lnSpc>
              <a:spcBef>
                <a:spcPct val="0"/>
              </a:spcBef>
            </a:pPr>
            <a:r>
              <a:rPr lang="en-US" sz="1875" i="1" u="none" strike="noStrike">
                <a:solidFill>
                  <a:srgbClr val="636363"/>
                </a:solidFill>
                <a:latin typeface="Garet Italics"/>
                <a:ea typeface="Garet Italics"/>
                <a:cs typeface="Garet Italics"/>
                <a:sym typeface="Garet Italics"/>
              </a:rPr>
              <a:t>Figure 1. StreamList+ Software Development Timeline and Task Dependencies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3573125" y="6143625"/>
            <a:ext cx="714375" cy="0"/>
          </a:xfrm>
          <a:prstGeom prst="line">
            <a:avLst/>
          </a:prstGeom>
          <a:ln w="9525" cap="rnd">
            <a:solidFill>
              <a:srgbClr val="D0D4DA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" name="AutoShape 3"/>
          <p:cNvSpPr/>
          <p:nvPr/>
        </p:nvSpPr>
        <p:spPr>
          <a:xfrm>
            <a:off x="13573125" y="5000625"/>
            <a:ext cx="714375" cy="0"/>
          </a:xfrm>
          <a:prstGeom prst="line">
            <a:avLst/>
          </a:prstGeom>
          <a:ln w="9525" cap="rnd">
            <a:solidFill>
              <a:srgbClr val="D0D4DA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AutoShape 4"/>
          <p:cNvSpPr/>
          <p:nvPr/>
        </p:nvSpPr>
        <p:spPr>
          <a:xfrm>
            <a:off x="13573125" y="3857625"/>
            <a:ext cx="714375" cy="0"/>
          </a:xfrm>
          <a:prstGeom prst="line">
            <a:avLst/>
          </a:prstGeom>
          <a:ln w="9525" cap="rnd">
            <a:solidFill>
              <a:srgbClr val="D0D4DA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5" name="AutoShape 5"/>
          <p:cNvSpPr/>
          <p:nvPr/>
        </p:nvSpPr>
        <p:spPr>
          <a:xfrm>
            <a:off x="13573125" y="2714625"/>
            <a:ext cx="714375" cy="0"/>
          </a:xfrm>
          <a:prstGeom prst="line">
            <a:avLst/>
          </a:prstGeom>
          <a:ln w="9525" cap="rnd">
            <a:solidFill>
              <a:srgbClr val="D0D4DA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6" name="AutoShape 6"/>
          <p:cNvSpPr/>
          <p:nvPr/>
        </p:nvSpPr>
        <p:spPr>
          <a:xfrm>
            <a:off x="4000500" y="6143625"/>
            <a:ext cx="714375" cy="0"/>
          </a:xfrm>
          <a:prstGeom prst="line">
            <a:avLst/>
          </a:prstGeom>
          <a:ln w="9525" cap="rnd">
            <a:solidFill>
              <a:srgbClr val="D0D4DA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7" name="AutoShape 7"/>
          <p:cNvSpPr/>
          <p:nvPr/>
        </p:nvSpPr>
        <p:spPr>
          <a:xfrm>
            <a:off x="4000500" y="5000625"/>
            <a:ext cx="714375" cy="0"/>
          </a:xfrm>
          <a:prstGeom prst="line">
            <a:avLst/>
          </a:prstGeom>
          <a:ln w="9525" cap="rnd">
            <a:solidFill>
              <a:srgbClr val="D0D4DA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8" name="AutoShape 8"/>
          <p:cNvSpPr/>
          <p:nvPr/>
        </p:nvSpPr>
        <p:spPr>
          <a:xfrm>
            <a:off x="4000500" y="3857625"/>
            <a:ext cx="714375" cy="0"/>
          </a:xfrm>
          <a:prstGeom prst="line">
            <a:avLst/>
          </a:prstGeom>
          <a:ln w="9525" cap="rnd">
            <a:solidFill>
              <a:srgbClr val="D0D4DA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9" name="AutoShape 9"/>
          <p:cNvSpPr/>
          <p:nvPr/>
        </p:nvSpPr>
        <p:spPr>
          <a:xfrm>
            <a:off x="4000500" y="2714625"/>
            <a:ext cx="714375" cy="0"/>
          </a:xfrm>
          <a:prstGeom prst="line">
            <a:avLst/>
          </a:prstGeom>
          <a:ln w="9525" cap="rnd">
            <a:solidFill>
              <a:srgbClr val="D0D4DA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Box 10"/>
          <p:cNvSpPr txBox="1"/>
          <p:nvPr/>
        </p:nvSpPr>
        <p:spPr>
          <a:xfrm>
            <a:off x="5334000" y="190500"/>
            <a:ext cx="7620000" cy="571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200"/>
              </a:lnSpc>
              <a:spcBef>
                <a:spcPct val="0"/>
              </a:spcBef>
            </a:pPr>
            <a:r>
              <a:rPr lang="en-US" sz="3500" b="1" u="none" strike="noStrike">
                <a:solidFill>
                  <a:srgbClr val="0D1949"/>
                </a:solidFill>
                <a:latin typeface="Poppins Bold"/>
                <a:ea typeface="Poppins Bold"/>
                <a:cs typeface="Poppins Bold"/>
                <a:sym typeface="Poppins Bold"/>
              </a:rPr>
              <a:t>WIREFRAME OVERVIEW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429000" y="819150"/>
            <a:ext cx="11430000" cy="4622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819"/>
              </a:lnSpc>
              <a:spcBef>
                <a:spcPct val="0"/>
              </a:spcBef>
            </a:pPr>
            <a:r>
              <a:rPr lang="en-US" sz="1299" u="none" strike="noStrike">
                <a:solidFill>
                  <a:srgbClr val="636363"/>
                </a:solidFill>
                <a:latin typeface="Garet"/>
                <a:ea typeface="Garet"/>
                <a:cs typeface="Garet"/>
                <a:sym typeface="Garet"/>
              </a:rPr>
              <a:t>The StreamList+ wireframes illustrate the application's core user interfaces, including authentication, content discovery, recommendations, and navigation features.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714875" y="1524000"/>
            <a:ext cx="4762500" cy="238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947"/>
              </a:lnSpc>
              <a:spcBef>
                <a:spcPct val="0"/>
              </a:spcBef>
            </a:pPr>
            <a:r>
              <a:rPr lang="en-US" sz="1622" b="1" u="none" strike="noStrike">
                <a:solidFill>
                  <a:srgbClr val="0D1949"/>
                </a:solidFill>
                <a:latin typeface="Garet Bold"/>
                <a:ea typeface="Garet Bold"/>
                <a:cs typeface="Garet Bold"/>
                <a:sym typeface="Garet Bold"/>
              </a:rPr>
              <a:t>Figure 1.</a:t>
            </a:r>
            <a:r>
              <a:rPr lang="en-US" sz="1622" u="none" strike="noStrike">
                <a:solidFill>
                  <a:srgbClr val="0D1949"/>
                </a:solidFill>
                <a:latin typeface="Garet"/>
                <a:ea typeface="Garet"/>
                <a:cs typeface="Garet"/>
                <a:sym typeface="Garet"/>
              </a:rPr>
              <a:t> Login and Registration Screen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525000" y="1485900"/>
            <a:ext cx="4048125" cy="228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919"/>
              </a:lnSpc>
              <a:spcBef>
                <a:spcPct val="0"/>
              </a:spcBef>
            </a:pPr>
            <a:r>
              <a:rPr lang="en-US" sz="1599" b="1" u="none" strike="noStrike">
                <a:solidFill>
                  <a:srgbClr val="0D1949"/>
                </a:solidFill>
                <a:latin typeface="Garet Bold"/>
                <a:ea typeface="Garet Bold"/>
                <a:cs typeface="Garet Bold"/>
                <a:sym typeface="Garet Bold"/>
              </a:rPr>
              <a:t>Figure 2.</a:t>
            </a:r>
            <a:r>
              <a:rPr lang="en-US" sz="1599" u="none" strike="noStrike">
                <a:solidFill>
                  <a:srgbClr val="0D1949"/>
                </a:solidFill>
                <a:latin typeface="Garet"/>
                <a:ea typeface="Garet"/>
                <a:cs typeface="Garet"/>
                <a:sym typeface="Garet"/>
              </a:rPr>
              <a:t> User Dashboard Screen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4714875" y="1857375"/>
            <a:ext cx="4048125" cy="6762750"/>
            <a:chOff x="0" y="0"/>
            <a:chExt cx="4318000" cy="72136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4318000" cy="7213600"/>
            </a:xfrm>
            <a:custGeom>
              <a:avLst/>
              <a:gdLst/>
              <a:ahLst/>
              <a:cxnLst/>
              <a:rect l="l" t="t" r="r" b="b"/>
              <a:pathLst>
                <a:path w="4318000" h="7213600">
                  <a:moveTo>
                    <a:pt x="431800" y="0"/>
                  </a:moveTo>
                  <a:lnTo>
                    <a:pt x="3886200" y="0"/>
                  </a:lnTo>
                  <a:cubicBezTo>
                    <a:pt x="4124677" y="0"/>
                    <a:pt x="4318000" y="161482"/>
                    <a:pt x="4318000" y="360680"/>
                  </a:cubicBezTo>
                  <a:lnTo>
                    <a:pt x="4318000" y="6852920"/>
                  </a:lnTo>
                  <a:cubicBezTo>
                    <a:pt x="4318000" y="7052118"/>
                    <a:pt x="4124677" y="7213600"/>
                    <a:pt x="3886200" y="7213600"/>
                  </a:cubicBezTo>
                  <a:lnTo>
                    <a:pt x="431800" y="7213600"/>
                  </a:lnTo>
                  <a:cubicBezTo>
                    <a:pt x="193323" y="7213600"/>
                    <a:pt x="0" y="7052118"/>
                    <a:pt x="0" y="6852920"/>
                  </a:cubicBezTo>
                  <a:lnTo>
                    <a:pt x="0" y="360680"/>
                  </a:lnTo>
                  <a:cubicBezTo>
                    <a:pt x="0" y="161482"/>
                    <a:pt x="193323" y="0"/>
                    <a:pt x="431800" y="0"/>
                  </a:cubicBezTo>
                  <a:close/>
                </a:path>
              </a:pathLst>
            </a:custGeom>
            <a:blipFill>
              <a:blip r:embed="rId2"/>
              <a:stretch>
                <a:fillRect t="-704" b="-704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525000" y="1857375"/>
            <a:ext cx="4048125" cy="6762750"/>
            <a:chOff x="0" y="0"/>
            <a:chExt cx="5397500" cy="90170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5397500" cy="9017000"/>
            </a:xfrm>
            <a:custGeom>
              <a:avLst/>
              <a:gdLst/>
              <a:ahLst/>
              <a:cxnLst/>
              <a:rect l="l" t="t" r="r" b="b"/>
              <a:pathLst>
                <a:path w="5397500" h="9017000">
                  <a:moveTo>
                    <a:pt x="539750" y="0"/>
                  </a:moveTo>
                  <a:lnTo>
                    <a:pt x="4857750" y="0"/>
                  </a:lnTo>
                  <a:cubicBezTo>
                    <a:pt x="5155846" y="0"/>
                    <a:pt x="5397500" y="238298"/>
                    <a:pt x="5397500" y="532253"/>
                  </a:cubicBezTo>
                  <a:lnTo>
                    <a:pt x="5397500" y="8484746"/>
                  </a:lnTo>
                  <a:cubicBezTo>
                    <a:pt x="5397500" y="8778702"/>
                    <a:pt x="5155846" y="9017000"/>
                    <a:pt x="4857750" y="9017000"/>
                  </a:cubicBezTo>
                  <a:lnTo>
                    <a:pt x="539750" y="9017000"/>
                  </a:lnTo>
                  <a:cubicBezTo>
                    <a:pt x="241654" y="9017000"/>
                    <a:pt x="0" y="8778702"/>
                    <a:pt x="0" y="8484746"/>
                  </a:cubicBezTo>
                  <a:lnTo>
                    <a:pt x="0" y="532253"/>
                  </a:lnTo>
                  <a:cubicBezTo>
                    <a:pt x="0" y="238298"/>
                    <a:pt x="241654" y="0"/>
                    <a:pt x="539750" y="0"/>
                  </a:cubicBezTo>
                  <a:close/>
                </a:path>
              </a:pathLst>
            </a:custGeom>
            <a:blipFill>
              <a:blip r:embed="rId3"/>
              <a:stretch>
                <a:fillRect t="-704" b="-704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2762250" y="2590800"/>
            <a:ext cx="1238250" cy="247650"/>
            <a:chOff x="0" y="0"/>
            <a:chExt cx="1651000" cy="3302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651000" cy="330200"/>
            </a:xfrm>
            <a:custGeom>
              <a:avLst/>
              <a:gdLst/>
              <a:ahLst/>
              <a:cxnLst/>
              <a:rect l="l" t="t" r="r" b="b"/>
              <a:pathLst>
                <a:path w="1651000" h="330200">
                  <a:moveTo>
                    <a:pt x="1485900" y="0"/>
                  </a:moveTo>
                  <a:cubicBezTo>
                    <a:pt x="1577082" y="0"/>
                    <a:pt x="1651000" y="73918"/>
                    <a:pt x="1651000" y="165100"/>
                  </a:cubicBezTo>
                  <a:cubicBezTo>
                    <a:pt x="1651000" y="256282"/>
                    <a:pt x="1577082" y="330200"/>
                    <a:pt x="1485900" y="330200"/>
                  </a:cubicBezTo>
                  <a:lnTo>
                    <a:pt x="165100" y="330200"/>
                  </a:lnTo>
                  <a:cubicBezTo>
                    <a:pt x="73918" y="330200"/>
                    <a:pt x="0" y="256282"/>
                    <a:pt x="0" y="165100"/>
                  </a:cubicBezTo>
                  <a:cubicBezTo>
                    <a:pt x="0" y="73918"/>
                    <a:pt x="73918" y="0"/>
                    <a:pt x="165100" y="0"/>
                  </a:cubicBezTo>
                  <a:close/>
                </a:path>
              </a:pathLst>
            </a:custGeom>
            <a:solidFill>
              <a:srgbClr val="F0F2F5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19050"/>
              <a:ext cx="1651000" cy="3492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1399"/>
                </a:lnSpc>
                <a:spcBef>
                  <a:spcPct val="0"/>
                </a:spcBef>
              </a:pPr>
              <a:r>
                <a:rPr lang="en-US" sz="999" u="none" strike="noStrike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Email Field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2762250" y="3657600"/>
            <a:ext cx="1238250" cy="400050"/>
            <a:chOff x="0" y="0"/>
            <a:chExt cx="1651000" cy="5334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651000" cy="533400"/>
            </a:xfrm>
            <a:custGeom>
              <a:avLst/>
              <a:gdLst/>
              <a:ahLst/>
              <a:cxnLst/>
              <a:rect l="l" t="t" r="r" b="b"/>
              <a:pathLst>
                <a:path w="1651000" h="533400">
                  <a:moveTo>
                    <a:pt x="1384300" y="0"/>
                  </a:moveTo>
                  <a:cubicBezTo>
                    <a:pt x="1531594" y="0"/>
                    <a:pt x="1651000" y="119406"/>
                    <a:pt x="1651000" y="266700"/>
                  </a:cubicBezTo>
                  <a:cubicBezTo>
                    <a:pt x="1651000" y="413994"/>
                    <a:pt x="1531594" y="533400"/>
                    <a:pt x="1384300" y="533400"/>
                  </a:cubicBezTo>
                  <a:lnTo>
                    <a:pt x="266700" y="533400"/>
                  </a:lnTo>
                  <a:cubicBezTo>
                    <a:pt x="119406" y="533400"/>
                    <a:pt x="0" y="413994"/>
                    <a:pt x="0" y="266700"/>
                  </a:cubicBezTo>
                  <a:cubicBezTo>
                    <a:pt x="0" y="119406"/>
                    <a:pt x="119406" y="0"/>
                    <a:pt x="266700" y="0"/>
                  </a:cubicBezTo>
                  <a:close/>
                </a:path>
              </a:pathLst>
            </a:custGeom>
            <a:solidFill>
              <a:srgbClr val="F0F2F5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19050"/>
              <a:ext cx="1651000" cy="5524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1399"/>
                </a:lnSpc>
                <a:spcBef>
                  <a:spcPct val="0"/>
                </a:spcBef>
              </a:pPr>
              <a:r>
                <a:rPr lang="en-US" sz="999" u="none" strike="noStrike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Password Field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2762250" y="4876800"/>
            <a:ext cx="1238250" cy="247650"/>
            <a:chOff x="0" y="0"/>
            <a:chExt cx="1651000" cy="33020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651000" cy="330200"/>
            </a:xfrm>
            <a:custGeom>
              <a:avLst/>
              <a:gdLst/>
              <a:ahLst/>
              <a:cxnLst/>
              <a:rect l="l" t="t" r="r" b="b"/>
              <a:pathLst>
                <a:path w="1651000" h="330200">
                  <a:moveTo>
                    <a:pt x="1485900" y="0"/>
                  </a:moveTo>
                  <a:cubicBezTo>
                    <a:pt x="1577082" y="0"/>
                    <a:pt x="1651000" y="73918"/>
                    <a:pt x="1651000" y="165100"/>
                  </a:cubicBezTo>
                  <a:cubicBezTo>
                    <a:pt x="1651000" y="256282"/>
                    <a:pt x="1577082" y="330200"/>
                    <a:pt x="1485900" y="330200"/>
                  </a:cubicBezTo>
                  <a:lnTo>
                    <a:pt x="165100" y="330200"/>
                  </a:lnTo>
                  <a:cubicBezTo>
                    <a:pt x="73918" y="330200"/>
                    <a:pt x="0" y="256282"/>
                    <a:pt x="0" y="165100"/>
                  </a:cubicBezTo>
                  <a:cubicBezTo>
                    <a:pt x="0" y="73918"/>
                    <a:pt x="73918" y="0"/>
                    <a:pt x="165100" y="0"/>
                  </a:cubicBezTo>
                  <a:close/>
                </a:path>
              </a:pathLst>
            </a:custGeom>
            <a:solidFill>
              <a:srgbClr val="F0F2F5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-19050"/>
              <a:ext cx="1651000" cy="3492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1399"/>
                </a:lnSpc>
                <a:spcBef>
                  <a:spcPct val="0"/>
                </a:spcBef>
              </a:pPr>
              <a:r>
                <a:rPr lang="en-US" sz="999" u="none" strike="noStrike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Sign In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2762250" y="5943600"/>
            <a:ext cx="1238250" cy="400050"/>
            <a:chOff x="0" y="0"/>
            <a:chExt cx="1651000" cy="53340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1651000" cy="533400"/>
            </a:xfrm>
            <a:custGeom>
              <a:avLst/>
              <a:gdLst/>
              <a:ahLst/>
              <a:cxnLst/>
              <a:rect l="l" t="t" r="r" b="b"/>
              <a:pathLst>
                <a:path w="1651000" h="533400">
                  <a:moveTo>
                    <a:pt x="1384300" y="0"/>
                  </a:moveTo>
                  <a:cubicBezTo>
                    <a:pt x="1531594" y="0"/>
                    <a:pt x="1651000" y="119406"/>
                    <a:pt x="1651000" y="266700"/>
                  </a:cubicBezTo>
                  <a:cubicBezTo>
                    <a:pt x="1651000" y="413994"/>
                    <a:pt x="1531594" y="533400"/>
                    <a:pt x="1384300" y="533400"/>
                  </a:cubicBezTo>
                  <a:lnTo>
                    <a:pt x="266700" y="533400"/>
                  </a:lnTo>
                  <a:cubicBezTo>
                    <a:pt x="119406" y="533400"/>
                    <a:pt x="0" y="413994"/>
                    <a:pt x="0" y="266700"/>
                  </a:cubicBezTo>
                  <a:cubicBezTo>
                    <a:pt x="0" y="119406"/>
                    <a:pt x="119406" y="0"/>
                    <a:pt x="266700" y="0"/>
                  </a:cubicBezTo>
                  <a:close/>
                </a:path>
              </a:pathLst>
            </a:custGeom>
            <a:solidFill>
              <a:srgbClr val="F0F2F5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0" y="-19050"/>
              <a:ext cx="1651000" cy="5524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1399"/>
                </a:lnSpc>
                <a:spcBef>
                  <a:spcPct val="0"/>
                </a:spcBef>
              </a:pPr>
              <a:r>
                <a:rPr lang="en-US" sz="999" u="none" strike="noStrike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Create Account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14335125" y="2590800"/>
            <a:ext cx="1381125" cy="247650"/>
            <a:chOff x="0" y="0"/>
            <a:chExt cx="1841500" cy="330200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1841500" cy="330200"/>
            </a:xfrm>
            <a:custGeom>
              <a:avLst/>
              <a:gdLst/>
              <a:ahLst/>
              <a:cxnLst/>
              <a:rect l="l" t="t" r="r" b="b"/>
              <a:pathLst>
                <a:path w="1841500" h="330200">
                  <a:moveTo>
                    <a:pt x="1676400" y="0"/>
                  </a:moveTo>
                  <a:cubicBezTo>
                    <a:pt x="1767582" y="0"/>
                    <a:pt x="1841500" y="73918"/>
                    <a:pt x="1841500" y="165100"/>
                  </a:cubicBezTo>
                  <a:cubicBezTo>
                    <a:pt x="1841500" y="256282"/>
                    <a:pt x="1767582" y="330200"/>
                    <a:pt x="1676400" y="330200"/>
                  </a:cubicBezTo>
                  <a:lnTo>
                    <a:pt x="165100" y="330200"/>
                  </a:lnTo>
                  <a:cubicBezTo>
                    <a:pt x="73918" y="330200"/>
                    <a:pt x="0" y="256282"/>
                    <a:pt x="0" y="165100"/>
                  </a:cubicBezTo>
                  <a:cubicBezTo>
                    <a:pt x="0" y="73918"/>
                    <a:pt x="73918" y="0"/>
                    <a:pt x="165100" y="0"/>
                  </a:cubicBezTo>
                  <a:close/>
                </a:path>
              </a:pathLst>
            </a:custGeom>
            <a:solidFill>
              <a:srgbClr val="F0F2F5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0" y="-19050"/>
              <a:ext cx="1841500" cy="3492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1399"/>
                </a:lnSpc>
                <a:spcBef>
                  <a:spcPct val="0"/>
                </a:spcBef>
              </a:pPr>
              <a:r>
                <a:rPr lang="en-US" sz="999" u="none" strike="noStrike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Search Bar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14335125" y="3657600"/>
            <a:ext cx="1381125" cy="400050"/>
            <a:chOff x="0" y="0"/>
            <a:chExt cx="1841500" cy="533400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1841500" cy="533400"/>
            </a:xfrm>
            <a:custGeom>
              <a:avLst/>
              <a:gdLst/>
              <a:ahLst/>
              <a:cxnLst/>
              <a:rect l="l" t="t" r="r" b="b"/>
              <a:pathLst>
                <a:path w="1841500" h="533400">
                  <a:moveTo>
                    <a:pt x="1574800" y="0"/>
                  </a:moveTo>
                  <a:cubicBezTo>
                    <a:pt x="1722094" y="0"/>
                    <a:pt x="1841500" y="119406"/>
                    <a:pt x="1841500" y="266700"/>
                  </a:cubicBezTo>
                  <a:cubicBezTo>
                    <a:pt x="1841500" y="413994"/>
                    <a:pt x="1722094" y="533400"/>
                    <a:pt x="1574800" y="533400"/>
                  </a:cubicBezTo>
                  <a:lnTo>
                    <a:pt x="266700" y="533400"/>
                  </a:lnTo>
                  <a:cubicBezTo>
                    <a:pt x="119406" y="533400"/>
                    <a:pt x="0" y="413994"/>
                    <a:pt x="0" y="266700"/>
                  </a:cubicBezTo>
                  <a:cubicBezTo>
                    <a:pt x="0" y="119406"/>
                    <a:pt x="119406" y="0"/>
                    <a:pt x="266700" y="0"/>
                  </a:cubicBezTo>
                  <a:close/>
                </a:path>
              </a:pathLst>
            </a:custGeom>
            <a:solidFill>
              <a:srgbClr val="F0F2F5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0" y="-19050"/>
              <a:ext cx="1841500" cy="5524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1399"/>
                </a:lnSpc>
                <a:spcBef>
                  <a:spcPct val="0"/>
                </a:spcBef>
              </a:pPr>
              <a:r>
                <a:rPr lang="en-US" sz="999" u="none" strike="noStrike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Recommendations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14335125" y="4800600"/>
            <a:ext cx="1381125" cy="400050"/>
            <a:chOff x="0" y="0"/>
            <a:chExt cx="1841500" cy="533400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1841500" cy="533400"/>
            </a:xfrm>
            <a:custGeom>
              <a:avLst/>
              <a:gdLst/>
              <a:ahLst/>
              <a:cxnLst/>
              <a:rect l="l" t="t" r="r" b="b"/>
              <a:pathLst>
                <a:path w="1841500" h="533400">
                  <a:moveTo>
                    <a:pt x="1574800" y="0"/>
                  </a:moveTo>
                  <a:cubicBezTo>
                    <a:pt x="1722094" y="0"/>
                    <a:pt x="1841500" y="119406"/>
                    <a:pt x="1841500" y="266700"/>
                  </a:cubicBezTo>
                  <a:cubicBezTo>
                    <a:pt x="1841500" y="413994"/>
                    <a:pt x="1722094" y="533400"/>
                    <a:pt x="1574800" y="533400"/>
                  </a:cubicBezTo>
                  <a:lnTo>
                    <a:pt x="266700" y="533400"/>
                  </a:lnTo>
                  <a:cubicBezTo>
                    <a:pt x="119406" y="533400"/>
                    <a:pt x="0" y="413994"/>
                    <a:pt x="0" y="266700"/>
                  </a:cubicBezTo>
                  <a:cubicBezTo>
                    <a:pt x="0" y="119406"/>
                    <a:pt x="119406" y="0"/>
                    <a:pt x="266700" y="0"/>
                  </a:cubicBezTo>
                  <a:close/>
                </a:path>
              </a:pathLst>
            </a:custGeom>
            <a:solidFill>
              <a:srgbClr val="F0F2F5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0" y="-19050"/>
              <a:ext cx="1841500" cy="5524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1399"/>
                </a:lnSpc>
                <a:spcBef>
                  <a:spcPct val="0"/>
                </a:spcBef>
              </a:pPr>
              <a:r>
                <a:rPr lang="en-US" sz="999" u="none" strike="noStrike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Watchlist Preview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14335125" y="5943600"/>
            <a:ext cx="1381125" cy="400050"/>
            <a:chOff x="0" y="0"/>
            <a:chExt cx="1841500" cy="533400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1841500" cy="533400"/>
            </a:xfrm>
            <a:custGeom>
              <a:avLst/>
              <a:gdLst/>
              <a:ahLst/>
              <a:cxnLst/>
              <a:rect l="l" t="t" r="r" b="b"/>
              <a:pathLst>
                <a:path w="1841500" h="533400">
                  <a:moveTo>
                    <a:pt x="1574800" y="0"/>
                  </a:moveTo>
                  <a:cubicBezTo>
                    <a:pt x="1722094" y="0"/>
                    <a:pt x="1841500" y="119406"/>
                    <a:pt x="1841500" y="266700"/>
                  </a:cubicBezTo>
                  <a:cubicBezTo>
                    <a:pt x="1841500" y="413994"/>
                    <a:pt x="1722094" y="533400"/>
                    <a:pt x="1574800" y="533400"/>
                  </a:cubicBezTo>
                  <a:lnTo>
                    <a:pt x="266700" y="533400"/>
                  </a:lnTo>
                  <a:cubicBezTo>
                    <a:pt x="119406" y="533400"/>
                    <a:pt x="0" y="413994"/>
                    <a:pt x="0" y="266700"/>
                  </a:cubicBezTo>
                  <a:cubicBezTo>
                    <a:pt x="0" y="119406"/>
                    <a:pt x="119406" y="0"/>
                    <a:pt x="266700" y="0"/>
                  </a:cubicBezTo>
                  <a:close/>
                </a:path>
              </a:pathLst>
            </a:custGeom>
            <a:solidFill>
              <a:srgbClr val="F0F2F5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0" y="-19050"/>
              <a:ext cx="1841500" cy="5524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1399"/>
                </a:lnSpc>
                <a:spcBef>
                  <a:spcPct val="0"/>
                </a:spcBef>
              </a:pPr>
              <a:r>
                <a:rPr lang="en-US" sz="999" u="none" strike="noStrike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Subscription Status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0" y="9906000"/>
            <a:ext cx="18288000" cy="57150"/>
            <a:chOff x="0" y="0"/>
            <a:chExt cx="24384000" cy="76200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24384000" cy="76200"/>
            </a:xfrm>
            <a:custGeom>
              <a:avLst/>
              <a:gdLst/>
              <a:ahLst/>
              <a:cxnLst/>
              <a:rect l="l" t="t" r="r" b="b"/>
              <a:pathLst>
                <a:path w="24384000" h="76200">
                  <a:moveTo>
                    <a:pt x="0" y="0"/>
                  </a:moveTo>
                  <a:lnTo>
                    <a:pt x="24384000" y="0"/>
                  </a:lnTo>
                  <a:lnTo>
                    <a:pt x="243840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2456B8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4" name="TextBox 44"/>
          <p:cNvSpPr txBox="1"/>
          <p:nvPr/>
        </p:nvSpPr>
        <p:spPr>
          <a:xfrm>
            <a:off x="5334000" y="8658225"/>
            <a:ext cx="7620000" cy="200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559"/>
              </a:lnSpc>
              <a:spcBef>
                <a:spcPct val="0"/>
              </a:spcBef>
            </a:pPr>
            <a:r>
              <a:rPr lang="en-US" sz="1299" i="1" u="none" strike="noStrike">
                <a:solidFill>
                  <a:srgbClr val="636363"/>
                </a:solidFill>
                <a:latin typeface="Garet Italics"/>
                <a:ea typeface="Garet Italics"/>
                <a:cs typeface="Garet Italics"/>
                <a:sym typeface="Garet Italics"/>
              </a:rPr>
              <a:t>Figures 1–2. StreamList+ Core User Interface Wireframes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4554200" y="6486525"/>
            <a:ext cx="400050" cy="0"/>
          </a:xfrm>
          <a:prstGeom prst="line">
            <a:avLst/>
          </a:prstGeom>
          <a:ln w="9525" cap="rnd">
            <a:solidFill>
              <a:srgbClr val="D0D4DA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" name="AutoShape 3"/>
          <p:cNvSpPr/>
          <p:nvPr/>
        </p:nvSpPr>
        <p:spPr>
          <a:xfrm>
            <a:off x="14554200" y="5534025"/>
            <a:ext cx="400050" cy="0"/>
          </a:xfrm>
          <a:prstGeom prst="line">
            <a:avLst/>
          </a:prstGeom>
          <a:ln w="9525" cap="rnd">
            <a:solidFill>
              <a:srgbClr val="D0D4DA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AutoShape 4"/>
          <p:cNvSpPr/>
          <p:nvPr/>
        </p:nvSpPr>
        <p:spPr>
          <a:xfrm>
            <a:off x="14554200" y="4581525"/>
            <a:ext cx="400050" cy="0"/>
          </a:xfrm>
          <a:prstGeom prst="line">
            <a:avLst/>
          </a:prstGeom>
          <a:ln w="9525" cap="rnd">
            <a:solidFill>
              <a:srgbClr val="D0D4DA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5" name="AutoShape 5"/>
          <p:cNvSpPr/>
          <p:nvPr/>
        </p:nvSpPr>
        <p:spPr>
          <a:xfrm>
            <a:off x="14554200" y="3629025"/>
            <a:ext cx="400050" cy="0"/>
          </a:xfrm>
          <a:prstGeom prst="line">
            <a:avLst/>
          </a:prstGeom>
          <a:ln w="9525" cap="rnd">
            <a:solidFill>
              <a:srgbClr val="D0D4DA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6" name="AutoShape 6"/>
          <p:cNvSpPr/>
          <p:nvPr/>
        </p:nvSpPr>
        <p:spPr>
          <a:xfrm>
            <a:off x="14554200" y="2676525"/>
            <a:ext cx="400050" cy="0"/>
          </a:xfrm>
          <a:prstGeom prst="line">
            <a:avLst/>
          </a:prstGeom>
          <a:ln w="9525" cap="rnd">
            <a:solidFill>
              <a:srgbClr val="D0D4DA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7" name="AutoShape 7"/>
          <p:cNvSpPr/>
          <p:nvPr/>
        </p:nvSpPr>
        <p:spPr>
          <a:xfrm>
            <a:off x="3143250" y="6219825"/>
            <a:ext cx="476250" cy="0"/>
          </a:xfrm>
          <a:prstGeom prst="line">
            <a:avLst/>
          </a:prstGeom>
          <a:ln w="9525" cap="rnd">
            <a:solidFill>
              <a:srgbClr val="D0D4DA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8" name="AutoShape 8"/>
          <p:cNvSpPr/>
          <p:nvPr/>
        </p:nvSpPr>
        <p:spPr>
          <a:xfrm>
            <a:off x="3143250" y="5076825"/>
            <a:ext cx="476250" cy="0"/>
          </a:xfrm>
          <a:prstGeom prst="line">
            <a:avLst/>
          </a:prstGeom>
          <a:ln w="9525" cap="rnd">
            <a:solidFill>
              <a:srgbClr val="D0D4DA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9" name="AutoShape 9"/>
          <p:cNvSpPr/>
          <p:nvPr/>
        </p:nvSpPr>
        <p:spPr>
          <a:xfrm>
            <a:off x="3143250" y="3933825"/>
            <a:ext cx="476250" cy="0"/>
          </a:xfrm>
          <a:prstGeom prst="line">
            <a:avLst/>
          </a:prstGeom>
          <a:ln w="9525" cap="rnd">
            <a:solidFill>
              <a:srgbClr val="D0D4DA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0" name="AutoShape 10"/>
          <p:cNvSpPr/>
          <p:nvPr/>
        </p:nvSpPr>
        <p:spPr>
          <a:xfrm>
            <a:off x="3143250" y="2790825"/>
            <a:ext cx="476250" cy="0"/>
          </a:xfrm>
          <a:prstGeom prst="line">
            <a:avLst/>
          </a:prstGeom>
          <a:ln w="9525" cap="rnd">
            <a:solidFill>
              <a:srgbClr val="D0D4DA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Box 11"/>
          <p:cNvSpPr txBox="1"/>
          <p:nvPr/>
        </p:nvSpPr>
        <p:spPr>
          <a:xfrm>
            <a:off x="5334000" y="314325"/>
            <a:ext cx="7620000" cy="504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719"/>
              </a:lnSpc>
              <a:spcBef>
                <a:spcPct val="0"/>
              </a:spcBef>
            </a:pPr>
            <a:r>
              <a:rPr lang="en-US" sz="3099" b="1" u="none" strike="noStrike">
                <a:solidFill>
                  <a:srgbClr val="0D1949"/>
                </a:solidFill>
                <a:latin typeface="Poppins Bold"/>
                <a:ea typeface="Poppins Bold"/>
                <a:cs typeface="Poppins Bold"/>
                <a:sym typeface="Poppins Bold"/>
              </a:rPr>
              <a:t>ADDITIONAL WIREFRAMES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3429000" y="866775"/>
            <a:ext cx="11430000" cy="4622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819"/>
              </a:lnSpc>
              <a:spcBef>
                <a:spcPct val="0"/>
              </a:spcBef>
            </a:pPr>
            <a:r>
              <a:rPr lang="en-US" sz="1299" u="none" strike="noStrike">
                <a:solidFill>
                  <a:srgbClr val="636363"/>
                </a:solidFill>
                <a:latin typeface="Garet"/>
                <a:ea typeface="Garet"/>
                <a:cs typeface="Garet"/>
                <a:sym typeface="Garet"/>
              </a:rPr>
              <a:t>The Search &amp; Streaming and Account Management wireframes demonstrate content discovery, watchlist management, subscription settings, and user account controls within StreamList+.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619500" y="1409700"/>
            <a:ext cx="4762500" cy="228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824"/>
              </a:lnSpc>
              <a:spcBef>
                <a:spcPct val="0"/>
              </a:spcBef>
            </a:pPr>
            <a:r>
              <a:rPr lang="en-US" sz="1520" b="1" u="none" strike="noStrike">
                <a:solidFill>
                  <a:srgbClr val="0D1949"/>
                </a:solidFill>
                <a:latin typeface="Garet Bold"/>
                <a:ea typeface="Garet Bold"/>
                <a:cs typeface="Garet Bold"/>
                <a:sym typeface="Garet Bold"/>
              </a:rPr>
              <a:t>Figure 3.</a:t>
            </a:r>
            <a:r>
              <a:rPr lang="en-US" sz="1520" u="none" strike="noStrike">
                <a:solidFill>
                  <a:srgbClr val="0D1949"/>
                </a:solidFill>
                <a:latin typeface="Garet"/>
                <a:ea typeface="Garet"/>
                <a:cs typeface="Garet"/>
                <a:sym typeface="Garet"/>
              </a:rPr>
              <a:t> Search and Streaming Screen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734550" y="1409700"/>
            <a:ext cx="4762500" cy="228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824"/>
              </a:lnSpc>
              <a:spcBef>
                <a:spcPct val="0"/>
              </a:spcBef>
            </a:pPr>
            <a:r>
              <a:rPr lang="en-US" sz="1520" b="1" u="none" strike="noStrike">
                <a:solidFill>
                  <a:srgbClr val="0D1949"/>
                </a:solidFill>
                <a:latin typeface="Garet Bold"/>
                <a:ea typeface="Garet Bold"/>
                <a:cs typeface="Garet Bold"/>
                <a:sym typeface="Garet Bold"/>
              </a:rPr>
              <a:t>Figure 4.</a:t>
            </a:r>
            <a:r>
              <a:rPr lang="en-US" sz="1520" u="none" strike="noStrike">
                <a:solidFill>
                  <a:srgbClr val="0D1949"/>
                </a:solidFill>
                <a:latin typeface="Garet"/>
                <a:ea typeface="Garet"/>
                <a:cs typeface="Garet"/>
                <a:sym typeface="Garet"/>
              </a:rPr>
              <a:t> Account &amp; Subscription Management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3619500" y="1666875"/>
            <a:ext cx="4762500" cy="7752907"/>
            <a:chOff x="0" y="0"/>
            <a:chExt cx="5461000" cy="88900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5461000" cy="8890000"/>
            </a:xfrm>
            <a:custGeom>
              <a:avLst/>
              <a:gdLst/>
              <a:ahLst/>
              <a:cxnLst/>
              <a:rect l="l" t="t" r="r" b="b"/>
              <a:pathLst>
                <a:path w="5461000" h="8890000">
                  <a:moveTo>
                    <a:pt x="546100" y="0"/>
                  </a:moveTo>
                  <a:lnTo>
                    <a:pt x="4914900" y="0"/>
                  </a:lnTo>
                  <a:cubicBezTo>
                    <a:pt x="5216503" y="0"/>
                    <a:pt x="5461000" y="244497"/>
                    <a:pt x="5461000" y="546100"/>
                  </a:cubicBezTo>
                  <a:lnTo>
                    <a:pt x="5461000" y="8343900"/>
                  </a:lnTo>
                  <a:cubicBezTo>
                    <a:pt x="5461000" y="8645503"/>
                    <a:pt x="5216503" y="8890000"/>
                    <a:pt x="4914900" y="8890000"/>
                  </a:cubicBezTo>
                  <a:lnTo>
                    <a:pt x="546100" y="8890000"/>
                  </a:lnTo>
                  <a:cubicBezTo>
                    <a:pt x="244497" y="8890000"/>
                    <a:pt x="0" y="8645503"/>
                    <a:pt x="0" y="8343900"/>
                  </a:cubicBezTo>
                  <a:lnTo>
                    <a:pt x="0" y="546100"/>
                  </a:lnTo>
                  <a:cubicBezTo>
                    <a:pt x="0" y="244497"/>
                    <a:pt x="244497" y="0"/>
                    <a:pt x="546100" y="0"/>
                  </a:cubicBez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734550" y="1666875"/>
            <a:ext cx="4772025" cy="7768413"/>
            <a:chOff x="0" y="0"/>
            <a:chExt cx="5461000" cy="88900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5461000" cy="8890000"/>
            </a:xfrm>
            <a:custGeom>
              <a:avLst/>
              <a:gdLst/>
              <a:ahLst/>
              <a:cxnLst/>
              <a:rect l="l" t="t" r="r" b="b"/>
              <a:pathLst>
                <a:path w="5461000" h="8890000">
                  <a:moveTo>
                    <a:pt x="546100" y="0"/>
                  </a:moveTo>
                  <a:lnTo>
                    <a:pt x="4914900" y="0"/>
                  </a:lnTo>
                  <a:cubicBezTo>
                    <a:pt x="5216503" y="0"/>
                    <a:pt x="5461000" y="244497"/>
                    <a:pt x="5461000" y="546100"/>
                  </a:cubicBezTo>
                  <a:lnTo>
                    <a:pt x="5461000" y="8343900"/>
                  </a:lnTo>
                  <a:cubicBezTo>
                    <a:pt x="5461000" y="8645503"/>
                    <a:pt x="5216503" y="8890000"/>
                    <a:pt x="4914900" y="8890000"/>
                  </a:cubicBezTo>
                  <a:lnTo>
                    <a:pt x="546100" y="8890000"/>
                  </a:lnTo>
                  <a:cubicBezTo>
                    <a:pt x="244497" y="8890000"/>
                    <a:pt x="0" y="8645503"/>
                    <a:pt x="0" y="8343900"/>
                  </a:cubicBezTo>
                  <a:lnTo>
                    <a:pt x="0" y="546100"/>
                  </a:lnTo>
                  <a:cubicBezTo>
                    <a:pt x="0" y="244497"/>
                    <a:pt x="244497" y="0"/>
                    <a:pt x="546100" y="0"/>
                  </a:cubicBezTo>
                  <a:close/>
                </a:path>
              </a:pathLst>
            </a:custGeom>
            <a:blipFill>
              <a:blip r:embed="rId3"/>
              <a:stretch>
                <a:fillRect l="-58" r="-58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905000" y="2667000"/>
            <a:ext cx="1238250" cy="247650"/>
            <a:chOff x="0" y="0"/>
            <a:chExt cx="1651000" cy="3302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651000" cy="330200"/>
            </a:xfrm>
            <a:custGeom>
              <a:avLst/>
              <a:gdLst/>
              <a:ahLst/>
              <a:cxnLst/>
              <a:rect l="l" t="t" r="r" b="b"/>
              <a:pathLst>
                <a:path w="1651000" h="330200">
                  <a:moveTo>
                    <a:pt x="1485900" y="0"/>
                  </a:moveTo>
                  <a:cubicBezTo>
                    <a:pt x="1577082" y="0"/>
                    <a:pt x="1651000" y="73918"/>
                    <a:pt x="1651000" y="165100"/>
                  </a:cubicBezTo>
                  <a:cubicBezTo>
                    <a:pt x="1651000" y="256282"/>
                    <a:pt x="1577082" y="330200"/>
                    <a:pt x="1485900" y="330200"/>
                  </a:cubicBezTo>
                  <a:lnTo>
                    <a:pt x="165100" y="330200"/>
                  </a:lnTo>
                  <a:cubicBezTo>
                    <a:pt x="73918" y="330200"/>
                    <a:pt x="0" y="256282"/>
                    <a:pt x="0" y="165100"/>
                  </a:cubicBezTo>
                  <a:cubicBezTo>
                    <a:pt x="0" y="73918"/>
                    <a:pt x="73918" y="0"/>
                    <a:pt x="165100" y="0"/>
                  </a:cubicBezTo>
                  <a:close/>
                </a:path>
              </a:pathLst>
            </a:custGeom>
            <a:solidFill>
              <a:srgbClr val="F0F2F5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19050"/>
              <a:ext cx="1651000" cy="3492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1399"/>
                </a:lnSpc>
                <a:spcBef>
                  <a:spcPct val="0"/>
                </a:spcBef>
              </a:pPr>
              <a:r>
                <a:rPr lang="en-US" sz="999" u="none" strike="noStrike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Search Bar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905000" y="3810000"/>
            <a:ext cx="1238250" cy="400050"/>
            <a:chOff x="0" y="0"/>
            <a:chExt cx="1651000" cy="5334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651000" cy="533400"/>
            </a:xfrm>
            <a:custGeom>
              <a:avLst/>
              <a:gdLst/>
              <a:ahLst/>
              <a:cxnLst/>
              <a:rect l="l" t="t" r="r" b="b"/>
              <a:pathLst>
                <a:path w="1651000" h="533400">
                  <a:moveTo>
                    <a:pt x="1384300" y="0"/>
                  </a:moveTo>
                  <a:cubicBezTo>
                    <a:pt x="1531594" y="0"/>
                    <a:pt x="1651000" y="119406"/>
                    <a:pt x="1651000" y="266700"/>
                  </a:cubicBezTo>
                  <a:cubicBezTo>
                    <a:pt x="1651000" y="413994"/>
                    <a:pt x="1531594" y="533400"/>
                    <a:pt x="1384300" y="533400"/>
                  </a:cubicBezTo>
                  <a:lnTo>
                    <a:pt x="266700" y="533400"/>
                  </a:lnTo>
                  <a:cubicBezTo>
                    <a:pt x="119406" y="533400"/>
                    <a:pt x="0" y="413994"/>
                    <a:pt x="0" y="266700"/>
                  </a:cubicBezTo>
                  <a:cubicBezTo>
                    <a:pt x="0" y="119406"/>
                    <a:pt x="119406" y="0"/>
                    <a:pt x="266700" y="0"/>
                  </a:cubicBezTo>
                  <a:close/>
                </a:path>
              </a:pathLst>
            </a:custGeom>
            <a:solidFill>
              <a:srgbClr val="F0F2F5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0" y="-19050"/>
              <a:ext cx="1651000" cy="5524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1399"/>
                </a:lnSpc>
                <a:spcBef>
                  <a:spcPct val="0"/>
                </a:spcBef>
              </a:pPr>
              <a:r>
                <a:rPr lang="en-US" sz="999" u="none" strike="noStrike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Content Results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1905000" y="4953000"/>
            <a:ext cx="1238250" cy="400050"/>
            <a:chOff x="0" y="0"/>
            <a:chExt cx="1651000" cy="53340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1651000" cy="533400"/>
            </a:xfrm>
            <a:custGeom>
              <a:avLst/>
              <a:gdLst/>
              <a:ahLst/>
              <a:cxnLst/>
              <a:rect l="l" t="t" r="r" b="b"/>
              <a:pathLst>
                <a:path w="1651000" h="533400">
                  <a:moveTo>
                    <a:pt x="1384300" y="0"/>
                  </a:moveTo>
                  <a:cubicBezTo>
                    <a:pt x="1531594" y="0"/>
                    <a:pt x="1651000" y="119406"/>
                    <a:pt x="1651000" y="266700"/>
                  </a:cubicBezTo>
                  <a:cubicBezTo>
                    <a:pt x="1651000" y="413994"/>
                    <a:pt x="1531594" y="533400"/>
                    <a:pt x="1384300" y="533400"/>
                  </a:cubicBezTo>
                  <a:lnTo>
                    <a:pt x="266700" y="533400"/>
                  </a:lnTo>
                  <a:cubicBezTo>
                    <a:pt x="119406" y="533400"/>
                    <a:pt x="0" y="413994"/>
                    <a:pt x="0" y="266700"/>
                  </a:cubicBezTo>
                  <a:cubicBezTo>
                    <a:pt x="0" y="119406"/>
                    <a:pt x="119406" y="0"/>
                    <a:pt x="266700" y="0"/>
                  </a:cubicBezTo>
                  <a:close/>
                </a:path>
              </a:pathLst>
            </a:custGeom>
            <a:solidFill>
              <a:srgbClr val="F0F2F5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0" y="-19050"/>
              <a:ext cx="1651000" cy="5524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1399"/>
                </a:lnSpc>
                <a:spcBef>
                  <a:spcPct val="0"/>
                </a:spcBef>
              </a:pPr>
              <a:r>
                <a:rPr lang="en-US" sz="999" u="none" strike="noStrike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Streaming Controls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1905000" y="6096000"/>
            <a:ext cx="1238250" cy="400050"/>
            <a:chOff x="0" y="0"/>
            <a:chExt cx="1651000" cy="53340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1651000" cy="533400"/>
            </a:xfrm>
            <a:custGeom>
              <a:avLst/>
              <a:gdLst/>
              <a:ahLst/>
              <a:cxnLst/>
              <a:rect l="l" t="t" r="r" b="b"/>
              <a:pathLst>
                <a:path w="1651000" h="533400">
                  <a:moveTo>
                    <a:pt x="1384300" y="0"/>
                  </a:moveTo>
                  <a:cubicBezTo>
                    <a:pt x="1531594" y="0"/>
                    <a:pt x="1651000" y="119406"/>
                    <a:pt x="1651000" y="266700"/>
                  </a:cubicBezTo>
                  <a:cubicBezTo>
                    <a:pt x="1651000" y="413994"/>
                    <a:pt x="1531594" y="533400"/>
                    <a:pt x="1384300" y="533400"/>
                  </a:cubicBezTo>
                  <a:lnTo>
                    <a:pt x="266700" y="533400"/>
                  </a:lnTo>
                  <a:cubicBezTo>
                    <a:pt x="119406" y="533400"/>
                    <a:pt x="0" y="413994"/>
                    <a:pt x="0" y="266700"/>
                  </a:cubicBezTo>
                  <a:cubicBezTo>
                    <a:pt x="0" y="119406"/>
                    <a:pt x="119406" y="0"/>
                    <a:pt x="266700" y="0"/>
                  </a:cubicBezTo>
                  <a:close/>
                </a:path>
              </a:pathLst>
            </a:custGeom>
            <a:solidFill>
              <a:srgbClr val="F0F2F5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0" y="-19050"/>
              <a:ext cx="1651000" cy="5524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1399"/>
                </a:lnSpc>
                <a:spcBef>
                  <a:spcPct val="0"/>
                </a:spcBef>
              </a:pPr>
              <a:r>
                <a:rPr lang="en-US" sz="999" u="none" strike="noStrike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Watchlist Access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15001875" y="2476500"/>
            <a:ext cx="1476375" cy="400050"/>
            <a:chOff x="0" y="0"/>
            <a:chExt cx="1968500" cy="53340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1968500" cy="533400"/>
            </a:xfrm>
            <a:custGeom>
              <a:avLst/>
              <a:gdLst/>
              <a:ahLst/>
              <a:cxnLst/>
              <a:rect l="l" t="t" r="r" b="b"/>
              <a:pathLst>
                <a:path w="1968500" h="533400">
                  <a:moveTo>
                    <a:pt x="1701800" y="0"/>
                  </a:moveTo>
                  <a:cubicBezTo>
                    <a:pt x="1849094" y="0"/>
                    <a:pt x="1968500" y="119406"/>
                    <a:pt x="1968500" y="266700"/>
                  </a:cubicBezTo>
                  <a:cubicBezTo>
                    <a:pt x="1968500" y="413994"/>
                    <a:pt x="1849094" y="533400"/>
                    <a:pt x="1701800" y="533400"/>
                  </a:cubicBezTo>
                  <a:lnTo>
                    <a:pt x="266700" y="533400"/>
                  </a:lnTo>
                  <a:cubicBezTo>
                    <a:pt x="119406" y="533400"/>
                    <a:pt x="0" y="413994"/>
                    <a:pt x="0" y="266700"/>
                  </a:cubicBezTo>
                  <a:cubicBezTo>
                    <a:pt x="0" y="119406"/>
                    <a:pt x="119406" y="0"/>
                    <a:pt x="266700" y="0"/>
                  </a:cubicBezTo>
                  <a:close/>
                </a:path>
              </a:pathLst>
            </a:custGeom>
            <a:solidFill>
              <a:srgbClr val="F0F2F5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0" y="-19050"/>
              <a:ext cx="1968500" cy="5524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1399"/>
                </a:lnSpc>
                <a:spcBef>
                  <a:spcPct val="0"/>
                </a:spcBef>
              </a:pPr>
              <a:r>
                <a:rPr lang="en-US" sz="999" u="none" strike="noStrike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Subscription Settings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15001875" y="3429000"/>
            <a:ext cx="1476375" cy="400050"/>
            <a:chOff x="0" y="0"/>
            <a:chExt cx="1968500" cy="533400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1968500" cy="533400"/>
            </a:xfrm>
            <a:custGeom>
              <a:avLst/>
              <a:gdLst/>
              <a:ahLst/>
              <a:cxnLst/>
              <a:rect l="l" t="t" r="r" b="b"/>
              <a:pathLst>
                <a:path w="1968500" h="533400">
                  <a:moveTo>
                    <a:pt x="1701800" y="0"/>
                  </a:moveTo>
                  <a:cubicBezTo>
                    <a:pt x="1849094" y="0"/>
                    <a:pt x="1968500" y="119406"/>
                    <a:pt x="1968500" y="266700"/>
                  </a:cubicBezTo>
                  <a:cubicBezTo>
                    <a:pt x="1968500" y="413994"/>
                    <a:pt x="1849094" y="533400"/>
                    <a:pt x="1701800" y="533400"/>
                  </a:cubicBezTo>
                  <a:lnTo>
                    <a:pt x="266700" y="533400"/>
                  </a:lnTo>
                  <a:cubicBezTo>
                    <a:pt x="119406" y="533400"/>
                    <a:pt x="0" y="413994"/>
                    <a:pt x="0" y="266700"/>
                  </a:cubicBezTo>
                  <a:cubicBezTo>
                    <a:pt x="0" y="119406"/>
                    <a:pt x="119406" y="0"/>
                    <a:pt x="266700" y="0"/>
                  </a:cubicBezTo>
                  <a:close/>
                </a:path>
              </a:pathLst>
            </a:custGeom>
            <a:solidFill>
              <a:srgbClr val="F0F2F5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0" y="-19050"/>
              <a:ext cx="1968500" cy="5524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1399"/>
                </a:lnSpc>
                <a:spcBef>
                  <a:spcPct val="0"/>
                </a:spcBef>
              </a:pPr>
              <a:r>
                <a:rPr lang="en-US" sz="999" u="none" strike="noStrike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Payment Method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15001875" y="4381500"/>
            <a:ext cx="1476375" cy="400050"/>
            <a:chOff x="0" y="0"/>
            <a:chExt cx="1968500" cy="53340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1968500" cy="533400"/>
            </a:xfrm>
            <a:custGeom>
              <a:avLst/>
              <a:gdLst/>
              <a:ahLst/>
              <a:cxnLst/>
              <a:rect l="l" t="t" r="r" b="b"/>
              <a:pathLst>
                <a:path w="1968500" h="533400">
                  <a:moveTo>
                    <a:pt x="1701800" y="0"/>
                  </a:moveTo>
                  <a:cubicBezTo>
                    <a:pt x="1849094" y="0"/>
                    <a:pt x="1968500" y="119406"/>
                    <a:pt x="1968500" y="266700"/>
                  </a:cubicBezTo>
                  <a:cubicBezTo>
                    <a:pt x="1968500" y="413994"/>
                    <a:pt x="1849094" y="533400"/>
                    <a:pt x="1701800" y="533400"/>
                  </a:cubicBezTo>
                  <a:lnTo>
                    <a:pt x="266700" y="533400"/>
                  </a:lnTo>
                  <a:cubicBezTo>
                    <a:pt x="119406" y="533400"/>
                    <a:pt x="0" y="413994"/>
                    <a:pt x="0" y="266700"/>
                  </a:cubicBezTo>
                  <a:cubicBezTo>
                    <a:pt x="0" y="119406"/>
                    <a:pt x="119406" y="0"/>
                    <a:pt x="266700" y="0"/>
                  </a:cubicBezTo>
                  <a:close/>
                </a:path>
              </a:pathLst>
            </a:custGeom>
            <a:solidFill>
              <a:srgbClr val="F0F2F5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0" y="-19050"/>
              <a:ext cx="1968500" cy="5524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1399"/>
                </a:lnSpc>
                <a:spcBef>
                  <a:spcPct val="0"/>
                </a:spcBef>
              </a:pPr>
              <a:r>
                <a:rPr lang="en-US" sz="999" u="none" strike="noStrike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Renewal Information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15001875" y="5334000"/>
            <a:ext cx="1476375" cy="400050"/>
            <a:chOff x="0" y="0"/>
            <a:chExt cx="1968500" cy="533400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1968500" cy="533400"/>
            </a:xfrm>
            <a:custGeom>
              <a:avLst/>
              <a:gdLst/>
              <a:ahLst/>
              <a:cxnLst/>
              <a:rect l="l" t="t" r="r" b="b"/>
              <a:pathLst>
                <a:path w="1968500" h="533400">
                  <a:moveTo>
                    <a:pt x="1701800" y="0"/>
                  </a:moveTo>
                  <a:cubicBezTo>
                    <a:pt x="1849094" y="0"/>
                    <a:pt x="1968500" y="119406"/>
                    <a:pt x="1968500" y="266700"/>
                  </a:cubicBezTo>
                  <a:cubicBezTo>
                    <a:pt x="1968500" y="413994"/>
                    <a:pt x="1849094" y="533400"/>
                    <a:pt x="1701800" y="533400"/>
                  </a:cubicBezTo>
                  <a:lnTo>
                    <a:pt x="266700" y="533400"/>
                  </a:lnTo>
                  <a:cubicBezTo>
                    <a:pt x="119406" y="533400"/>
                    <a:pt x="0" y="413994"/>
                    <a:pt x="0" y="266700"/>
                  </a:cubicBezTo>
                  <a:cubicBezTo>
                    <a:pt x="0" y="119406"/>
                    <a:pt x="119406" y="0"/>
                    <a:pt x="266700" y="0"/>
                  </a:cubicBezTo>
                  <a:close/>
                </a:path>
              </a:pathLst>
            </a:custGeom>
            <a:solidFill>
              <a:srgbClr val="F0F2F5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0" y="-19050"/>
              <a:ext cx="1968500" cy="5524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1399"/>
                </a:lnSpc>
                <a:spcBef>
                  <a:spcPct val="0"/>
                </a:spcBef>
              </a:pPr>
              <a:r>
                <a:rPr lang="en-US" sz="999" u="none" strike="noStrike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Notification Preferences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15001875" y="6286500"/>
            <a:ext cx="1476375" cy="400050"/>
            <a:chOff x="0" y="0"/>
            <a:chExt cx="1968500" cy="533400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1968500" cy="533400"/>
            </a:xfrm>
            <a:custGeom>
              <a:avLst/>
              <a:gdLst/>
              <a:ahLst/>
              <a:cxnLst/>
              <a:rect l="l" t="t" r="r" b="b"/>
              <a:pathLst>
                <a:path w="1968500" h="533400">
                  <a:moveTo>
                    <a:pt x="1701800" y="0"/>
                  </a:moveTo>
                  <a:cubicBezTo>
                    <a:pt x="1849094" y="0"/>
                    <a:pt x="1968500" y="119406"/>
                    <a:pt x="1968500" y="266700"/>
                  </a:cubicBezTo>
                  <a:cubicBezTo>
                    <a:pt x="1968500" y="413994"/>
                    <a:pt x="1849094" y="533400"/>
                    <a:pt x="1701800" y="533400"/>
                  </a:cubicBezTo>
                  <a:lnTo>
                    <a:pt x="266700" y="533400"/>
                  </a:lnTo>
                  <a:cubicBezTo>
                    <a:pt x="119406" y="533400"/>
                    <a:pt x="0" y="413994"/>
                    <a:pt x="0" y="266700"/>
                  </a:cubicBezTo>
                  <a:cubicBezTo>
                    <a:pt x="0" y="119406"/>
                    <a:pt x="119406" y="0"/>
                    <a:pt x="266700" y="0"/>
                  </a:cubicBezTo>
                  <a:close/>
                </a:path>
              </a:pathLst>
            </a:custGeom>
            <a:solidFill>
              <a:srgbClr val="F0F2F5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0" y="-19050"/>
              <a:ext cx="1968500" cy="5524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1399"/>
                </a:lnSpc>
                <a:spcBef>
                  <a:spcPct val="0"/>
                </a:spcBef>
              </a:pPr>
              <a:r>
                <a:rPr lang="en-US" sz="999" u="none" strike="noStrike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Dark Mode Toggle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0" y="9906000"/>
            <a:ext cx="18288000" cy="57150"/>
            <a:chOff x="0" y="0"/>
            <a:chExt cx="24384000" cy="76200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24384000" cy="76200"/>
            </a:xfrm>
            <a:custGeom>
              <a:avLst/>
              <a:gdLst/>
              <a:ahLst/>
              <a:cxnLst/>
              <a:rect l="l" t="t" r="r" b="b"/>
              <a:pathLst>
                <a:path w="24384000" h="76200">
                  <a:moveTo>
                    <a:pt x="0" y="0"/>
                  </a:moveTo>
                  <a:lnTo>
                    <a:pt x="24384000" y="0"/>
                  </a:lnTo>
                  <a:lnTo>
                    <a:pt x="243840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2456B8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8" name="TextBox 48"/>
          <p:cNvSpPr txBox="1"/>
          <p:nvPr/>
        </p:nvSpPr>
        <p:spPr>
          <a:xfrm>
            <a:off x="5334000" y="9420225"/>
            <a:ext cx="7620000" cy="200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559"/>
              </a:lnSpc>
              <a:spcBef>
                <a:spcPct val="0"/>
              </a:spcBef>
            </a:pPr>
            <a:r>
              <a:rPr lang="en-US" sz="1299" i="1" u="none" strike="noStrike">
                <a:solidFill>
                  <a:srgbClr val="636363"/>
                </a:solidFill>
                <a:latin typeface="Garet Italics"/>
                <a:ea typeface="Garet Italics"/>
                <a:cs typeface="Garet Italics"/>
                <a:sym typeface="Garet Italics"/>
              </a:rPr>
              <a:t>Figures 3–4. StreamList+ Advanced User Interface Wireframes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857750" y="257175"/>
            <a:ext cx="8572500" cy="485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660"/>
              </a:lnSpc>
              <a:spcBef>
                <a:spcPct val="0"/>
              </a:spcBef>
            </a:pPr>
            <a:r>
              <a:rPr lang="en-US" sz="3050" b="1" u="none" strike="noStrike">
                <a:solidFill>
                  <a:srgbClr val="0D1949"/>
                </a:solidFill>
                <a:latin typeface="Poppins Bold"/>
                <a:ea typeface="Poppins Bold"/>
                <a:cs typeface="Poppins Bold"/>
                <a:sym typeface="Poppins Bold"/>
              </a:rPr>
              <a:t>NAVIGATION FLOW AND PROJECT SUMMARY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762000" y="1333500"/>
            <a:ext cx="6191250" cy="950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946"/>
              </a:lnSpc>
              <a:spcBef>
                <a:spcPct val="0"/>
              </a:spcBef>
            </a:pPr>
            <a:r>
              <a:rPr lang="en-US" sz="1297" u="none" strike="noStrike">
                <a:solidFill>
                  <a:srgbClr val="636363"/>
                </a:solidFill>
                <a:latin typeface="Garet"/>
                <a:ea typeface="Garet"/>
                <a:cs typeface="Garet"/>
                <a:sym typeface="Garet"/>
              </a:rPr>
              <a:t>StreamList+ is a centralized streaming platform that enables users to search content, manage subscriptions, receive personalized recommendations, create watchlists, and stream media through a single application.</a:t>
            </a:r>
          </a:p>
        </p:txBody>
      </p:sp>
      <p:sp>
        <p:nvSpPr>
          <p:cNvPr id="4" name="AutoShape 4"/>
          <p:cNvSpPr/>
          <p:nvPr/>
        </p:nvSpPr>
        <p:spPr>
          <a:xfrm>
            <a:off x="762000" y="2667000"/>
            <a:ext cx="4000500" cy="0"/>
          </a:xfrm>
          <a:prstGeom prst="line">
            <a:avLst/>
          </a:prstGeom>
          <a:ln w="9525" cap="rnd">
            <a:solidFill>
              <a:srgbClr val="D0D4DA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762000" y="2676525"/>
            <a:ext cx="2857500" cy="352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639"/>
              </a:lnSpc>
              <a:spcBef>
                <a:spcPct val="0"/>
              </a:spcBef>
            </a:pPr>
            <a:r>
              <a:rPr lang="en-US" sz="2199" b="1" u="none" strike="noStrike">
                <a:solidFill>
                  <a:srgbClr val="0D1949"/>
                </a:solidFill>
                <a:latin typeface="Poppins Bold"/>
                <a:ea typeface="Poppins Bold"/>
                <a:cs typeface="Poppins Bold"/>
                <a:sym typeface="Poppins Bold"/>
              </a:rPr>
              <a:t>Key Features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857250" y="3533775"/>
            <a:ext cx="76200" cy="76200"/>
            <a:chOff x="0" y="0"/>
            <a:chExt cx="101600" cy="1016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01600" cy="101600"/>
            </a:xfrm>
            <a:custGeom>
              <a:avLst/>
              <a:gdLst/>
              <a:ahLst/>
              <a:cxnLst/>
              <a:rect l="l" t="t" r="r" b="b"/>
              <a:pathLst>
                <a:path w="101600" h="101600">
                  <a:moveTo>
                    <a:pt x="50800" y="0"/>
                  </a:moveTo>
                  <a:cubicBezTo>
                    <a:pt x="22744" y="0"/>
                    <a:pt x="0" y="22744"/>
                    <a:pt x="0" y="50800"/>
                  </a:cubicBezTo>
                  <a:cubicBezTo>
                    <a:pt x="0" y="78856"/>
                    <a:pt x="22744" y="101600"/>
                    <a:pt x="50800" y="101600"/>
                  </a:cubicBezTo>
                  <a:cubicBezTo>
                    <a:pt x="78856" y="101600"/>
                    <a:pt x="101600" y="78856"/>
                    <a:pt x="101600" y="50800"/>
                  </a:cubicBezTo>
                  <a:cubicBezTo>
                    <a:pt x="101600" y="22744"/>
                    <a:pt x="78856" y="0"/>
                    <a:pt x="50800" y="0"/>
                  </a:cubicBezTo>
                  <a:close/>
                </a:path>
              </a:pathLst>
            </a:custGeom>
            <a:solidFill>
              <a:srgbClr val="2456B8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047750" y="3467100"/>
            <a:ext cx="3810000" cy="200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559"/>
              </a:lnSpc>
              <a:spcBef>
                <a:spcPct val="0"/>
              </a:spcBef>
            </a:pPr>
            <a:r>
              <a:rPr lang="en-US" sz="1299" u="none" strike="noStrike">
                <a:solidFill>
                  <a:srgbClr val="1A1A2E"/>
                </a:solidFill>
                <a:latin typeface="Garet"/>
                <a:ea typeface="Garet"/>
                <a:cs typeface="Garet"/>
                <a:sym typeface="Garet"/>
              </a:rPr>
              <a:t>Unified Content Search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857250" y="4010025"/>
            <a:ext cx="76200" cy="76200"/>
            <a:chOff x="0" y="0"/>
            <a:chExt cx="101600" cy="1016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01600" cy="101600"/>
            </a:xfrm>
            <a:custGeom>
              <a:avLst/>
              <a:gdLst/>
              <a:ahLst/>
              <a:cxnLst/>
              <a:rect l="l" t="t" r="r" b="b"/>
              <a:pathLst>
                <a:path w="101600" h="101600">
                  <a:moveTo>
                    <a:pt x="50800" y="0"/>
                  </a:moveTo>
                  <a:cubicBezTo>
                    <a:pt x="22744" y="0"/>
                    <a:pt x="0" y="22744"/>
                    <a:pt x="0" y="50800"/>
                  </a:cubicBezTo>
                  <a:cubicBezTo>
                    <a:pt x="0" y="78856"/>
                    <a:pt x="22744" y="101600"/>
                    <a:pt x="50800" y="101600"/>
                  </a:cubicBezTo>
                  <a:cubicBezTo>
                    <a:pt x="78856" y="101600"/>
                    <a:pt x="101600" y="78856"/>
                    <a:pt x="101600" y="50800"/>
                  </a:cubicBezTo>
                  <a:cubicBezTo>
                    <a:pt x="101600" y="22744"/>
                    <a:pt x="78856" y="0"/>
                    <a:pt x="50800" y="0"/>
                  </a:cubicBezTo>
                  <a:close/>
                </a:path>
              </a:pathLst>
            </a:custGeom>
            <a:solidFill>
              <a:srgbClr val="2456B8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1047750" y="3943350"/>
            <a:ext cx="3810000" cy="200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559"/>
              </a:lnSpc>
              <a:spcBef>
                <a:spcPct val="0"/>
              </a:spcBef>
            </a:pPr>
            <a:r>
              <a:rPr lang="en-US" sz="1299" u="none" strike="noStrike">
                <a:solidFill>
                  <a:srgbClr val="1A1A2E"/>
                </a:solidFill>
                <a:latin typeface="Garet"/>
                <a:ea typeface="Garet"/>
                <a:cs typeface="Garet"/>
                <a:sym typeface="Garet"/>
              </a:rPr>
              <a:t>Personalized Recommendations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857250" y="4486275"/>
            <a:ext cx="76200" cy="76200"/>
            <a:chOff x="0" y="0"/>
            <a:chExt cx="101600" cy="1016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01600" cy="101600"/>
            </a:xfrm>
            <a:custGeom>
              <a:avLst/>
              <a:gdLst/>
              <a:ahLst/>
              <a:cxnLst/>
              <a:rect l="l" t="t" r="r" b="b"/>
              <a:pathLst>
                <a:path w="101600" h="101600">
                  <a:moveTo>
                    <a:pt x="50800" y="0"/>
                  </a:moveTo>
                  <a:cubicBezTo>
                    <a:pt x="22744" y="0"/>
                    <a:pt x="0" y="22744"/>
                    <a:pt x="0" y="50800"/>
                  </a:cubicBezTo>
                  <a:cubicBezTo>
                    <a:pt x="0" y="78856"/>
                    <a:pt x="22744" y="101600"/>
                    <a:pt x="50800" y="101600"/>
                  </a:cubicBezTo>
                  <a:cubicBezTo>
                    <a:pt x="78856" y="101600"/>
                    <a:pt x="101600" y="78856"/>
                    <a:pt x="101600" y="50800"/>
                  </a:cubicBezTo>
                  <a:cubicBezTo>
                    <a:pt x="101600" y="22744"/>
                    <a:pt x="78856" y="0"/>
                    <a:pt x="50800" y="0"/>
                  </a:cubicBezTo>
                  <a:close/>
                </a:path>
              </a:pathLst>
            </a:custGeom>
            <a:solidFill>
              <a:srgbClr val="2456B8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1047750" y="4419600"/>
            <a:ext cx="3810000" cy="200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559"/>
              </a:lnSpc>
              <a:spcBef>
                <a:spcPct val="0"/>
              </a:spcBef>
            </a:pPr>
            <a:r>
              <a:rPr lang="en-US" sz="1299" u="none" strike="noStrike">
                <a:solidFill>
                  <a:srgbClr val="1A1A2E"/>
                </a:solidFill>
                <a:latin typeface="Garet"/>
                <a:ea typeface="Garet"/>
                <a:cs typeface="Garet"/>
                <a:sym typeface="Garet"/>
              </a:rPr>
              <a:t>Watchlist Management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857250" y="4962525"/>
            <a:ext cx="76200" cy="76200"/>
            <a:chOff x="0" y="0"/>
            <a:chExt cx="101600" cy="1016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01600" cy="101600"/>
            </a:xfrm>
            <a:custGeom>
              <a:avLst/>
              <a:gdLst/>
              <a:ahLst/>
              <a:cxnLst/>
              <a:rect l="l" t="t" r="r" b="b"/>
              <a:pathLst>
                <a:path w="101600" h="101600">
                  <a:moveTo>
                    <a:pt x="50800" y="0"/>
                  </a:moveTo>
                  <a:cubicBezTo>
                    <a:pt x="22744" y="0"/>
                    <a:pt x="0" y="22744"/>
                    <a:pt x="0" y="50800"/>
                  </a:cubicBezTo>
                  <a:cubicBezTo>
                    <a:pt x="0" y="78856"/>
                    <a:pt x="22744" y="101600"/>
                    <a:pt x="50800" y="101600"/>
                  </a:cubicBezTo>
                  <a:cubicBezTo>
                    <a:pt x="78856" y="101600"/>
                    <a:pt x="101600" y="78856"/>
                    <a:pt x="101600" y="50800"/>
                  </a:cubicBezTo>
                  <a:cubicBezTo>
                    <a:pt x="101600" y="22744"/>
                    <a:pt x="78856" y="0"/>
                    <a:pt x="50800" y="0"/>
                  </a:cubicBezTo>
                  <a:close/>
                </a:path>
              </a:pathLst>
            </a:custGeom>
            <a:solidFill>
              <a:srgbClr val="2456B8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1047750" y="4895850"/>
            <a:ext cx="3810000" cy="200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559"/>
              </a:lnSpc>
              <a:spcBef>
                <a:spcPct val="0"/>
              </a:spcBef>
            </a:pPr>
            <a:r>
              <a:rPr lang="en-US" sz="1299" u="none" strike="noStrike">
                <a:solidFill>
                  <a:srgbClr val="1A1A2E"/>
                </a:solidFill>
                <a:latin typeface="Garet"/>
                <a:ea typeface="Garet"/>
                <a:cs typeface="Garet"/>
                <a:sym typeface="Garet"/>
              </a:rPr>
              <a:t>Subscription Management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857250" y="5438775"/>
            <a:ext cx="76200" cy="76200"/>
            <a:chOff x="0" y="0"/>
            <a:chExt cx="101600" cy="1016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01600" cy="101600"/>
            </a:xfrm>
            <a:custGeom>
              <a:avLst/>
              <a:gdLst/>
              <a:ahLst/>
              <a:cxnLst/>
              <a:rect l="l" t="t" r="r" b="b"/>
              <a:pathLst>
                <a:path w="101600" h="101600">
                  <a:moveTo>
                    <a:pt x="50800" y="0"/>
                  </a:moveTo>
                  <a:cubicBezTo>
                    <a:pt x="22744" y="0"/>
                    <a:pt x="0" y="22744"/>
                    <a:pt x="0" y="50800"/>
                  </a:cubicBezTo>
                  <a:cubicBezTo>
                    <a:pt x="0" y="78856"/>
                    <a:pt x="22744" y="101600"/>
                    <a:pt x="50800" y="101600"/>
                  </a:cubicBezTo>
                  <a:cubicBezTo>
                    <a:pt x="78856" y="101600"/>
                    <a:pt x="101600" y="78856"/>
                    <a:pt x="101600" y="50800"/>
                  </a:cubicBezTo>
                  <a:cubicBezTo>
                    <a:pt x="101600" y="22744"/>
                    <a:pt x="78856" y="0"/>
                    <a:pt x="50800" y="0"/>
                  </a:cubicBezTo>
                  <a:close/>
                </a:path>
              </a:pathLst>
            </a:custGeom>
            <a:solidFill>
              <a:srgbClr val="2456B8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1047750" y="5372100"/>
            <a:ext cx="3810000" cy="200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559"/>
              </a:lnSpc>
              <a:spcBef>
                <a:spcPct val="0"/>
              </a:spcBef>
            </a:pPr>
            <a:r>
              <a:rPr lang="en-US" sz="1299" u="none" strike="noStrike">
                <a:solidFill>
                  <a:srgbClr val="1A1A2E"/>
                </a:solidFill>
                <a:latin typeface="Garet"/>
                <a:ea typeface="Garet"/>
                <a:cs typeface="Garet"/>
                <a:sym typeface="Garet"/>
              </a:rPr>
              <a:t>Streaming Playback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857250" y="5915025"/>
            <a:ext cx="76200" cy="76200"/>
            <a:chOff x="0" y="0"/>
            <a:chExt cx="101600" cy="1016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01600" cy="101600"/>
            </a:xfrm>
            <a:custGeom>
              <a:avLst/>
              <a:gdLst/>
              <a:ahLst/>
              <a:cxnLst/>
              <a:rect l="l" t="t" r="r" b="b"/>
              <a:pathLst>
                <a:path w="101600" h="101600">
                  <a:moveTo>
                    <a:pt x="50800" y="0"/>
                  </a:moveTo>
                  <a:cubicBezTo>
                    <a:pt x="22744" y="0"/>
                    <a:pt x="0" y="22744"/>
                    <a:pt x="0" y="50800"/>
                  </a:cubicBezTo>
                  <a:cubicBezTo>
                    <a:pt x="0" y="78856"/>
                    <a:pt x="22744" y="101600"/>
                    <a:pt x="50800" y="101600"/>
                  </a:cubicBezTo>
                  <a:cubicBezTo>
                    <a:pt x="78856" y="101600"/>
                    <a:pt x="101600" y="78856"/>
                    <a:pt x="101600" y="50800"/>
                  </a:cubicBezTo>
                  <a:cubicBezTo>
                    <a:pt x="101600" y="22744"/>
                    <a:pt x="78856" y="0"/>
                    <a:pt x="50800" y="0"/>
                  </a:cubicBezTo>
                  <a:close/>
                </a:path>
              </a:pathLst>
            </a:custGeom>
            <a:solidFill>
              <a:srgbClr val="2456B8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1047750" y="5848350"/>
            <a:ext cx="3810000" cy="200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559"/>
              </a:lnSpc>
              <a:spcBef>
                <a:spcPct val="0"/>
              </a:spcBef>
            </a:pPr>
            <a:r>
              <a:rPr lang="en-US" sz="1299" u="none" strike="noStrike">
                <a:solidFill>
                  <a:srgbClr val="1A1A2E"/>
                </a:solidFill>
                <a:latin typeface="Garet"/>
                <a:ea typeface="Garet"/>
                <a:cs typeface="Garet"/>
                <a:sym typeface="Garet"/>
              </a:rPr>
              <a:t>Cross-Device Accessibility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2525375" y="2476500"/>
            <a:ext cx="3143250" cy="304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322"/>
              </a:lnSpc>
              <a:spcBef>
                <a:spcPct val="0"/>
              </a:spcBef>
            </a:pPr>
            <a:r>
              <a:rPr lang="en-US" sz="1935" b="1" u="none" strike="noStrike">
                <a:solidFill>
                  <a:srgbClr val="0D1949"/>
                </a:solidFill>
                <a:latin typeface="Poppins Bold"/>
                <a:ea typeface="Poppins Bold"/>
                <a:cs typeface="Poppins Bold"/>
                <a:sym typeface="Poppins Bold"/>
              </a:rPr>
              <a:t>Navigation Flow</a:t>
            </a:r>
          </a:p>
        </p:txBody>
      </p:sp>
      <p:grpSp>
        <p:nvGrpSpPr>
          <p:cNvPr id="25" name="Group 25"/>
          <p:cNvGrpSpPr/>
          <p:nvPr/>
        </p:nvGrpSpPr>
        <p:grpSpPr>
          <a:xfrm>
            <a:off x="12734925" y="2914650"/>
            <a:ext cx="2724150" cy="438150"/>
            <a:chOff x="0" y="0"/>
            <a:chExt cx="3632200" cy="58420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3632200" cy="584200"/>
            </a:xfrm>
            <a:custGeom>
              <a:avLst/>
              <a:gdLst/>
              <a:ahLst/>
              <a:cxnLst/>
              <a:rect l="l" t="t" r="r" b="b"/>
              <a:pathLst>
                <a:path w="3632200" h="584200">
                  <a:moveTo>
                    <a:pt x="58674" y="0"/>
                  </a:moveTo>
                  <a:lnTo>
                    <a:pt x="3573526" y="0"/>
                  </a:lnTo>
                  <a:cubicBezTo>
                    <a:pt x="3605931" y="0"/>
                    <a:pt x="3632200" y="26156"/>
                    <a:pt x="3632200" y="58420"/>
                  </a:cubicBezTo>
                  <a:lnTo>
                    <a:pt x="3632200" y="525780"/>
                  </a:lnTo>
                  <a:cubicBezTo>
                    <a:pt x="3632200" y="558044"/>
                    <a:pt x="3605931" y="584200"/>
                    <a:pt x="3573526" y="584200"/>
                  </a:cubicBezTo>
                  <a:lnTo>
                    <a:pt x="58674" y="584200"/>
                  </a:lnTo>
                  <a:cubicBezTo>
                    <a:pt x="43113" y="584200"/>
                    <a:pt x="28189" y="578045"/>
                    <a:pt x="17185" y="567089"/>
                  </a:cubicBezTo>
                  <a:cubicBezTo>
                    <a:pt x="6182" y="556133"/>
                    <a:pt x="0" y="541274"/>
                    <a:pt x="0" y="525780"/>
                  </a:cubicBezTo>
                  <a:lnTo>
                    <a:pt x="0" y="58420"/>
                  </a:lnTo>
                  <a:cubicBezTo>
                    <a:pt x="0" y="26156"/>
                    <a:pt x="26269" y="0"/>
                    <a:pt x="58674" y="0"/>
                  </a:cubicBezTo>
                  <a:close/>
                </a:path>
              </a:pathLst>
            </a:custGeom>
            <a:solidFill>
              <a:srgbClr val="F0F2F5"/>
            </a:solidFill>
            <a:ln w="9525" cap="sq">
              <a:solidFill>
                <a:srgbClr val="D0D4DA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0" y="-28575"/>
              <a:ext cx="3632200" cy="6127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1679"/>
                </a:lnSpc>
                <a:spcBef>
                  <a:spcPct val="0"/>
                </a:spcBef>
              </a:pPr>
              <a:r>
                <a:rPr lang="en-US" sz="1200" u="none" strike="noStrike">
                  <a:solidFill>
                    <a:srgbClr val="0D1949"/>
                  </a:solidFill>
                  <a:latin typeface="Garet"/>
                  <a:ea typeface="Garet"/>
                  <a:cs typeface="Garet"/>
                  <a:sym typeface="Garet"/>
                </a:rPr>
                <a:t>Login &amp; Registration</a:t>
              </a:r>
            </a:p>
          </p:txBody>
        </p:sp>
      </p:grpSp>
      <p:sp>
        <p:nvSpPr>
          <p:cNvPr id="28" name="AutoShape 28"/>
          <p:cNvSpPr/>
          <p:nvPr/>
        </p:nvSpPr>
        <p:spPr>
          <a:xfrm>
            <a:off x="14097000" y="3390900"/>
            <a:ext cx="0" cy="466725"/>
          </a:xfrm>
          <a:prstGeom prst="line">
            <a:avLst/>
          </a:prstGeom>
          <a:ln w="19050" cap="rnd">
            <a:solidFill>
              <a:srgbClr val="2456B8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en-US"/>
          </a:p>
        </p:txBody>
      </p:sp>
      <p:grpSp>
        <p:nvGrpSpPr>
          <p:cNvPr id="29" name="Group 29"/>
          <p:cNvGrpSpPr/>
          <p:nvPr/>
        </p:nvGrpSpPr>
        <p:grpSpPr>
          <a:xfrm>
            <a:off x="12734925" y="3895725"/>
            <a:ext cx="2724150" cy="438150"/>
            <a:chOff x="0" y="0"/>
            <a:chExt cx="3632200" cy="58420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3632200" cy="584200"/>
            </a:xfrm>
            <a:custGeom>
              <a:avLst/>
              <a:gdLst/>
              <a:ahLst/>
              <a:cxnLst/>
              <a:rect l="l" t="t" r="r" b="b"/>
              <a:pathLst>
                <a:path w="3632200" h="584200">
                  <a:moveTo>
                    <a:pt x="58674" y="0"/>
                  </a:moveTo>
                  <a:lnTo>
                    <a:pt x="3573526" y="0"/>
                  </a:lnTo>
                  <a:cubicBezTo>
                    <a:pt x="3605931" y="0"/>
                    <a:pt x="3632200" y="26156"/>
                    <a:pt x="3632200" y="58420"/>
                  </a:cubicBezTo>
                  <a:lnTo>
                    <a:pt x="3632200" y="525780"/>
                  </a:lnTo>
                  <a:cubicBezTo>
                    <a:pt x="3632200" y="558044"/>
                    <a:pt x="3605931" y="584200"/>
                    <a:pt x="3573526" y="584200"/>
                  </a:cubicBezTo>
                  <a:lnTo>
                    <a:pt x="58674" y="584200"/>
                  </a:lnTo>
                  <a:cubicBezTo>
                    <a:pt x="43113" y="584200"/>
                    <a:pt x="28189" y="578045"/>
                    <a:pt x="17185" y="567089"/>
                  </a:cubicBezTo>
                  <a:cubicBezTo>
                    <a:pt x="6182" y="556133"/>
                    <a:pt x="0" y="541274"/>
                    <a:pt x="0" y="525780"/>
                  </a:cubicBezTo>
                  <a:lnTo>
                    <a:pt x="0" y="58420"/>
                  </a:lnTo>
                  <a:cubicBezTo>
                    <a:pt x="0" y="26156"/>
                    <a:pt x="26269" y="0"/>
                    <a:pt x="58674" y="0"/>
                  </a:cubicBezTo>
                  <a:close/>
                </a:path>
              </a:pathLst>
            </a:custGeom>
            <a:solidFill>
              <a:srgbClr val="F0F2F5"/>
            </a:solidFill>
            <a:ln w="9525" cap="sq">
              <a:solidFill>
                <a:srgbClr val="D0D4DA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0" y="-28575"/>
              <a:ext cx="3632200" cy="6127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1679"/>
                </a:lnSpc>
                <a:spcBef>
                  <a:spcPct val="0"/>
                </a:spcBef>
              </a:pPr>
              <a:r>
                <a:rPr lang="en-US" sz="1200" u="none" strike="noStrike">
                  <a:solidFill>
                    <a:srgbClr val="0D1949"/>
                  </a:solidFill>
                  <a:latin typeface="Garet"/>
                  <a:ea typeface="Garet"/>
                  <a:cs typeface="Garet"/>
                  <a:sym typeface="Garet"/>
                </a:rPr>
                <a:t>User Dashboard</a:t>
              </a:r>
            </a:p>
          </p:txBody>
        </p:sp>
      </p:grpSp>
      <p:sp>
        <p:nvSpPr>
          <p:cNvPr id="32" name="AutoShape 32"/>
          <p:cNvSpPr/>
          <p:nvPr/>
        </p:nvSpPr>
        <p:spPr>
          <a:xfrm>
            <a:off x="14097000" y="4381500"/>
            <a:ext cx="0" cy="457200"/>
          </a:xfrm>
          <a:prstGeom prst="line">
            <a:avLst/>
          </a:prstGeom>
          <a:ln w="19050" cap="rnd">
            <a:solidFill>
              <a:srgbClr val="2456B8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en-US"/>
          </a:p>
        </p:txBody>
      </p:sp>
      <p:grpSp>
        <p:nvGrpSpPr>
          <p:cNvPr id="33" name="Group 33"/>
          <p:cNvGrpSpPr/>
          <p:nvPr/>
        </p:nvGrpSpPr>
        <p:grpSpPr>
          <a:xfrm>
            <a:off x="12734925" y="4886325"/>
            <a:ext cx="2724150" cy="438150"/>
            <a:chOff x="0" y="0"/>
            <a:chExt cx="3632200" cy="584200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3632200" cy="584200"/>
            </a:xfrm>
            <a:custGeom>
              <a:avLst/>
              <a:gdLst/>
              <a:ahLst/>
              <a:cxnLst/>
              <a:rect l="l" t="t" r="r" b="b"/>
              <a:pathLst>
                <a:path w="3632200" h="584200">
                  <a:moveTo>
                    <a:pt x="58674" y="0"/>
                  </a:moveTo>
                  <a:lnTo>
                    <a:pt x="3573526" y="0"/>
                  </a:lnTo>
                  <a:cubicBezTo>
                    <a:pt x="3605931" y="0"/>
                    <a:pt x="3632200" y="26156"/>
                    <a:pt x="3632200" y="58420"/>
                  </a:cubicBezTo>
                  <a:lnTo>
                    <a:pt x="3632200" y="525780"/>
                  </a:lnTo>
                  <a:cubicBezTo>
                    <a:pt x="3632200" y="558044"/>
                    <a:pt x="3605931" y="584200"/>
                    <a:pt x="3573526" y="584200"/>
                  </a:cubicBezTo>
                  <a:lnTo>
                    <a:pt x="58674" y="584200"/>
                  </a:lnTo>
                  <a:cubicBezTo>
                    <a:pt x="43113" y="584200"/>
                    <a:pt x="28189" y="578045"/>
                    <a:pt x="17185" y="567089"/>
                  </a:cubicBezTo>
                  <a:cubicBezTo>
                    <a:pt x="6182" y="556133"/>
                    <a:pt x="0" y="541274"/>
                    <a:pt x="0" y="525780"/>
                  </a:cubicBezTo>
                  <a:lnTo>
                    <a:pt x="0" y="58420"/>
                  </a:lnTo>
                  <a:cubicBezTo>
                    <a:pt x="0" y="26156"/>
                    <a:pt x="26269" y="0"/>
                    <a:pt x="58674" y="0"/>
                  </a:cubicBezTo>
                  <a:close/>
                </a:path>
              </a:pathLst>
            </a:custGeom>
            <a:solidFill>
              <a:srgbClr val="F0F2F5"/>
            </a:solidFill>
            <a:ln w="9525" cap="sq">
              <a:solidFill>
                <a:srgbClr val="D0D4DA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0" y="-28575"/>
              <a:ext cx="3632200" cy="6127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1679"/>
                </a:lnSpc>
                <a:spcBef>
                  <a:spcPct val="0"/>
                </a:spcBef>
              </a:pPr>
              <a:r>
                <a:rPr lang="en-US" sz="1200" u="none" strike="noStrike">
                  <a:solidFill>
                    <a:srgbClr val="0D1949"/>
                  </a:solidFill>
                  <a:latin typeface="Garet"/>
                  <a:ea typeface="Garet"/>
                  <a:cs typeface="Garet"/>
                  <a:sym typeface="Garet"/>
                </a:rPr>
                <a:t>Search &amp; Streaming</a:t>
              </a:r>
            </a:p>
          </p:txBody>
        </p:sp>
      </p:grpSp>
      <p:sp>
        <p:nvSpPr>
          <p:cNvPr id="36" name="AutoShape 36"/>
          <p:cNvSpPr/>
          <p:nvPr/>
        </p:nvSpPr>
        <p:spPr>
          <a:xfrm>
            <a:off x="14097000" y="5362575"/>
            <a:ext cx="0" cy="457200"/>
          </a:xfrm>
          <a:prstGeom prst="line">
            <a:avLst/>
          </a:prstGeom>
          <a:ln w="19050" cap="rnd">
            <a:solidFill>
              <a:srgbClr val="2456B8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en-US"/>
          </a:p>
        </p:txBody>
      </p:sp>
      <p:grpSp>
        <p:nvGrpSpPr>
          <p:cNvPr id="37" name="Group 37"/>
          <p:cNvGrpSpPr/>
          <p:nvPr/>
        </p:nvGrpSpPr>
        <p:grpSpPr>
          <a:xfrm>
            <a:off x="12734925" y="5867400"/>
            <a:ext cx="2724150" cy="438150"/>
            <a:chOff x="0" y="0"/>
            <a:chExt cx="3632200" cy="58420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3632200" cy="584200"/>
            </a:xfrm>
            <a:custGeom>
              <a:avLst/>
              <a:gdLst/>
              <a:ahLst/>
              <a:cxnLst/>
              <a:rect l="l" t="t" r="r" b="b"/>
              <a:pathLst>
                <a:path w="3632200" h="584200">
                  <a:moveTo>
                    <a:pt x="58674" y="0"/>
                  </a:moveTo>
                  <a:lnTo>
                    <a:pt x="3573526" y="0"/>
                  </a:lnTo>
                  <a:cubicBezTo>
                    <a:pt x="3605931" y="0"/>
                    <a:pt x="3632200" y="26156"/>
                    <a:pt x="3632200" y="58420"/>
                  </a:cubicBezTo>
                  <a:lnTo>
                    <a:pt x="3632200" y="525780"/>
                  </a:lnTo>
                  <a:cubicBezTo>
                    <a:pt x="3632200" y="558044"/>
                    <a:pt x="3605931" y="584200"/>
                    <a:pt x="3573526" y="584200"/>
                  </a:cubicBezTo>
                  <a:lnTo>
                    <a:pt x="58674" y="584200"/>
                  </a:lnTo>
                  <a:cubicBezTo>
                    <a:pt x="43113" y="584200"/>
                    <a:pt x="28189" y="578045"/>
                    <a:pt x="17185" y="567089"/>
                  </a:cubicBezTo>
                  <a:cubicBezTo>
                    <a:pt x="6182" y="556133"/>
                    <a:pt x="0" y="541274"/>
                    <a:pt x="0" y="525780"/>
                  </a:cubicBezTo>
                  <a:lnTo>
                    <a:pt x="0" y="58420"/>
                  </a:lnTo>
                  <a:cubicBezTo>
                    <a:pt x="0" y="26156"/>
                    <a:pt x="26269" y="0"/>
                    <a:pt x="58674" y="0"/>
                  </a:cubicBezTo>
                  <a:close/>
                </a:path>
              </a:pathLst>
            </a:custGeom>
            <a:solidFill>
              <a:srgbClr val="F0F2F5"/>
            </a:solidFill>
            <a:ln w="9525" cap="sq">
              <a:solidFill>
                <a:srgbClr val="D0D4DA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0" y="-28575"/>
              <a:ext cx="3632200" cy="6127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1679"/>
                </a:lnSpc>
                <a:spcBef>
                  <a:spcPct val="0"/>
                </a:spcBef>
              </a:pPr>
              <a:r>
                <a:rPr lang="en-US" sz="1200" u="none" strike="noStrike">
                  <a:solidFill>
                    <a:srgbClr val="0D1949"/>
                  </a:solidFill>
                  <a:latin typeface="Garet"/>
                  <a:ea typeface="Garet"/>
                  <a:cs typeface="Garet"/>
                  <a:sym typeface="Garet"/>
                </a:rPr>
                <a:t>Watchlist</a:t>
              </a:r>
            </a:p>
          </p:txBody>
        </p:sp>
      </p:grpSp>
      <p:sp>
        <p:nvSpPr>
          <p:cNvPr id="40" name="AutoShape 40"/>
          <p:cNvSpPr/>
          <p:nvPr/>
        </p:nvSpPr>
        <p:spPr>
          <a:xfrm>
            <a:off x="14097000" y="6343650"/>
            <a:ext cx="0" cy="466725"/>
          </a:xfrm>
          <a:prstGeom prst="line">
            <a:avLst/>
          </a:prstGeom>
          <a:ln w="19050" cap="rnd">
            <a:solidFill>
              <a:srgbClr val="2456B8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en-US"/>
          </a:p>
        </p:txBody>
      </p:sp>
      <p:grpSp>
        <p:nvGrpSpPr>
          <p:cNvPr id="41" name="Group 41"/>
          <p:cNvGrpSpPr/>
          <p:nvPr/>
        </p:nvGrpSpPr>
        <p:grpSpPr>
          <a:xfrm>
            <a:off x="12734925" y="6848475"/>
            <a:ext cx="2724150" cy="438150"/>
            <a:chOff x="0" y="0"/>
            <a:chExt cx="3632200" cy="584200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3632200" cy="584200"/>
            </a:xfrm>
            <a:custGeom>
              <a:avLst/>
              <a:gdLst/>
              <a:ahLst/>
              <a:cxnLst/>
              <a:rect l="l" t="t" r="r" b="b"/>
              <a:pathLst>
                <a:path w="3632200" h="584200">
                  <a:moveTo>
                    <a:pt x="58674" y="0"/>
                  </a:moveTo>
                  <a:lnTo>
                    <a:pt x="3573526" y="0"/>
                  </a:lnTo>
                  <a:cubicBezTo>
                    <a:pt x="3605931" y="0"/>
                    <a:pt x="3632200" y="26156"/>
                    <a:pt x="3632200" y="58420"/>
                  </a:cubicBezTo>
                  <a:lnTo>
                    <a:pt x="3632200" y="525780"/>
                  </a:lnTo>
                  <a:cubicBezTo>
                    <a:pt x="3632200" y="558044"/>
                    <a:pt x="3605931" y="584200"/>
                    <a:pt x="3573526" y="584200"/>
                  </a:cubicBezTo>
                  <a:lnTo>
                    <a:pt x="58674" y="584200"/>
                  </a:lnTo>
                  <a:cubicBezTo>
                    <a:pt x="43113" y="584200"/>
                    <a:pt x="28189" y="578045"/>
                    <a:pt x="17185" y="567089"/>
                  </a:cubicBezTo>
                  <a:cubicBezTo>
                    <a:pt x="6182" y="556133"/>
                    <a:pt x="0" y="541274"/>
                    <a:pt x="0" y="525780"/>
                  </a:cubicBezTo>
                  <a:lnTo>
                    <a:pt x="0" y="58420"/>
                  </a:lnTo>
                  <a:cubicBezTo>
                    <a:pt x="0" y="26156"/>
                    <a:pt x="26269" y="0"/>
                    <a:pt x="58674" y="0"/>
                  </a:cubicBezTo>
                  <a:close/>
                </a:path>
              </a:pathLst>
            </a:custGeom>
            <a:solidFill>
              <a:srgbClr val="F0F2F5"/>
            </a:solidFill>
            <a:ln w="9525" cap="sq">
              <a:solidFill>
                <a:srgbClr val="D0D4DA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0" y="-19050"/>
              <a:ext cx="3632200" cy="6032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1399"/>
                </a:lnSpc>
                <a:spcBef>
                  <a:spcPct val="0"/>
                </a:spcBef>
              </a:pPr>
              <a:r>
                <a:rPr lang="en-US" sz="999" u="none" strike="noStrike">
                  <a:solidFill>
                    <a:srgbClr val="0D1949"/>
                  </a:solidFill>
                  <a:latin typeface="Garet"/>
                  <a:ea typeface="Garet"/>
                  <a:cs typeface="Garet"/>
                  <a:sym typeface="Garet"/>
                </a:rPr>
                <a:t>Account &amp; Subscription Management</a:t>
              </a:r>
            </a:p>
          </p:txBody>
        </p:sp>
      </p:grpSp>
      <p:sp>
        <p:nvSpPr>
          <p:cNvPr id="44" name="Freeform 44"/>
          <p:cNvSpPr/>
          <p:nvPr/>
        </p:nvSpPr>
        <p:spPr>
          <a:xfrm>
            <a:off x="7277100" y="1885950"/>
            <a:ext cx="3371850" cy="6743700"/>
          </a:xfrm>
          <a:custGeom>
            <a:avLst/>
            <a:gdLst/>
            <a:ahLst/>
            <a:cxnLst/>
            <a:rect l="l" t="t" r="r" b="b"/>
            <a:pathLst>
              <a:path w="3371850" h="6743700">
                <a:moveTo>
                  <a:pt x="0" y="0"/>
                </a:moveTo>
                <a:lnTo>
                  <a:pt x="3371850" y="0"/>
                </a:lnTo>
                <a:lnTo>
                  <a:pt x="3371850" y="6743700"/>
                </a:lnTo>
                <a:lnTo>
                  <a:pt x="0" y="67437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45" name="Group 45"/>
          <p:cNvGrpSpPr/>
          <p:nvPr/>
        </p:nvGrpSpPr>
        <p:grpSpPr>
          <a:xfrm>
            <a:off x="0" y="9906000"/>
            <a:ext cx="18288000" cy="57150"/>
            <a:chOff x="0" y="0"/>
            <a:chExt cx="24384000" cy="76200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24384000" cy="76200"/>
            </a:xfrm>
            <a:custGeom>
              <a:avLst/>
              <a:gdLst/>
              <a:ahLst/>
              <a:cxnLst/>
              <a:rect l="l" t="t" r="r" b="b"/>
              <a:pathLst>
                <a:path w="24384000" h="76200">
                  <a:moveTo>
                    <a:pt x="0" y="0"/>
                  </a:moveTo>
                  <a:lnTo>
                    <a:pt x="24384000" y="0"/>
                  </a:lnTo>
                  <a:lnTo>
                    <a:pt x="243840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2456B8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7" name="TextBox 47"/>
          <p:cNvSpPr txBox="1"/>
          <p:nvPr/>
        </p:nvSpPr>
        <p:spPr>
          <a:xfrm>
            <a:off x="5334000" y="9515475"/>
            <a:ext cx="7620000" cy="200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559"/>
              </a:lnSpc>
              <a:spcBef>
                <a:spcPct val="0"/>
              </a:spcBef>
            </a:pPr>
            <a:r>
              <a:rPr lang="en-US" sz="1299" i="1" u="none" strike="noStrike">
                <a:solidFill>
                  <a:srgbClr val="636363"/>
                </a:solidFill>
                <a:latin typeface="Garet Italics"/>
                <a:ea typeface="Garet Italics"/>
                <a:cs typeface="Garet Italics"/>
                <a:sym typeface="Garet Italics"/>
              </a:rPr>
              <a:t>Figure 4. StreamList+ Navigation Flow and Feature Summary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322</Words>
  <Application>Microsoft Macintosh PowerPoint</Application>
  <PresentationFormat>Custom</PresentationFormat>
  <Paragraphs>83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2" baseType="lpstr">
      <vt:lpstr>Garet Italics</vt:lpstr>
      <vt:lpstr>Garet</vt:lpstr>
      <vt:lpstr>Poppins Bold</vt:lpstr>
      <vt:lpstr>Arial</vt:lpstr>
      <vt:lpstr>Garet Bold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StreamList 5-Slide Project Presentation</dc:title>
  <cp:lastModifiedBy>Itiel King</cp:lastModifiedBy>
  <cp:revision>1</cp:revision>
  <dcterms:created xsi:type="dcterms:W3CDTF">2006-08-16T00:00:00Z</dcterms:created>
  <dcterms:modified xsi:type="dcterms:W3CDTF">2026-06-08T21:35:05Z</dcterms:modified>
  <dc:identifier>DAHMA23xaDI</dc:identifier>
</cp:coreProperties>
</file>